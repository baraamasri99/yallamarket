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5" r:id="rId6"/>
    <p:sldId id="264" r:id="rId7"/>
    <p:sldId id="263" r:id="rId8"/>
    <p:sldId id="265" r:id="rId9"/>
    <p:sldId id="273" r:id="rId10"/>
    <p:sldId id="272" r:id="rId11"/>
    <p:sldId id="267" r:id="rId12"/>
    <p:sldId id="268" r:id="rId13"/>
    <p:sldId id="269" r:id="rId14"/>
    <p:sldId id="27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54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590" y="-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544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2219-FA79-491D-3F35-4D94CB7E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D93FCE-A18D-6C43-631A-52E33B1E8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06FFF-3D17-EC70-5C36-A26450EC1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73C39-4A04-EAE0-082A-D57D61864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99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B3BA9-BF41-0086-D832-3D710A7C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FF011-DC6D-9789-AF69-64A89A75C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38016-71FB-4BF8-F413-A1CB951E4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A7678-E669-64AF-94FB-BA6B461036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56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7596B-F790-864B-10B6-EA0302B32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48D78-66D2-02E4-A212-4A59C33EA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9EBB5-C05A-28B2-3271-A920FC335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CC0BD-CC9B-0EA8-BCCE-F77B44902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87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13232" y="7132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0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YallaMarket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</a:rPr>
              <a:t>Full‑Stack Digital Marketplace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18105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Software Engineering Final Presentation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359152"/>
            <a:ext cx="1764792" cy="292608"/>
          </a:xfrm>
          <a:prstGeom prst="roundRect">
            <a:avLst>
              <a:gd name="adj" fmla="val 25000"/>
            </a:avLst>
          </a:prstGeom>
          <a:solidFill>
            <a:srgbClr val="0E0E0E"/>
          </a:solidFill>
          <a:ln w="12700">
            <a:solidFill>
              <a:srgbClr val="0E0E0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432304"/>
            <a:ext cx="15453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React + Vite + Tailwind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2670048" y="2359152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2432304"/>
            <a:ext cx="13533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Express.js + SQLite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4407408" y="2359152"/>
            <a:ext cx="850392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2432304"/>
            <a:ext cx="6309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</a:rPr>
              <a:t>JWT Auth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749808" y="541324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1717"/>
                </a:solidFill>
              </a:rPr>
              <a:t>An‑Najah National University  •  Computer Science Apprenticeship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572414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Team: Baraa Masri, Hamed Bizreh, Yahya </a:t>
            </a:r>
            <a:r>
              <a:rPr lang="en-US" sz="950" dirty="0" err="1">
                <a:solidFill>
                  <a:srgbClr val="475569"/>
                </a:solidFill>
              </a:rPr>
              <a:t>Zyoud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599846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Instructor: Dr. Firas Shakaa  •  Second Semester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635240" y="475488"/>
            <a:ext cx="3035808" cy="5623560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35240" y="475488"/>
            <a:ext cx="3035808" cy="27432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44968" y="566928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72984" y="56692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01000" y="56692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2" name="Image 0" descr="/mnt/data/image(59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731520"/>
            <a:ext cx="3035808" cy="526694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744968" y="6163056"/>
            <a:ext cx="2816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64748B"/>
                </a:solidFill>
              </a:rPr>
              <a:t>Final storefront screenshot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12737CB-28FF-88F3-EF49-5696958D0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787467"/>
              </p:ext>
            </p:extLst>
          </p:nvPr>
        </p:nvGraphicFramePr>
        <p:xfrm>
          <a:off x="713232" y="2999232"/>
          <a:ext cx="4572000" cy="20880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48677597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08987483"/>
                    </a:ext>
                  </a:extLst>
                </a:gridCol>
              </a:tblGrid>
              <a:tr h="1695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Stakeholder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972649"/>
                  </a:ext>
                </a:extLst>
              </a:tr>
              <a:tr h="348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Guest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Unauthenticated visitor browsing the storefront.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905038"/>
                  </a:ext>
                </a:extLst>
              </a:tr>
              <a:tr h="348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Registered User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Customer with an account.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511297"/>
                  </a:ext>
                </a:extLst>
              </a:tr>
              <a:tr h="348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Admin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Store manager/operator.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059670"/>
                  </a:ext>
                </a:extLst>
              </a:tr>
              <a:tr h="3480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Development Team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</a:rPr>
                        <a:t>Students building and documenting the system.</a:t>
                      </a:r>
                      <a:endParaRPr lang="en-US" sz="10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889081"/>
                  </a:ext>
                </a:extLst>
              </a:tr>
              <a:tr h="5264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Instructor / Evaluator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</a:rPr>
                        <a:t>Software Engineering course reviewer.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8986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4748B"/>
                </a:solidFill>
              </a:rPr>
              <a:t>WHAT WE BUILT AND DELIVERED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61872"/>
            <a:ext cx="5715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171717"/>
                </a:solidFill>
              </a:rPr>
              <a:t>YallaMarket is a bilingual marketplace for digital products and online services, implemented as a complete full‑stack university Software Engineering project.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76656" y="2148840"/>
            <a:ext cx="53492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• Frontend: React, Vite, Tailwind CSS, React Router, Context API
• Backend: Express.js REST APIs with SQLite persistence
• Authentication: JWT-based login and protected admin endpoints
• Process evidence: SRS, UML/ERD, QA report, Jira sprints, GitHub collaboration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" y="3886200"/>
            <a:ext cx="14264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9959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20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6384" y="43525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manual test cases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2313432" y="3886200"/>
            <a:ext cx="14264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39959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23160" y="43525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documented sprints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3950208" y="3886200"/>
            <a:ext cx="14264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9936" y="39959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50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059936" y="43525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commits shown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5586984" y="3886200"/>
            <a:ext cx="142646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96712" y="39959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11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96712" y="4352544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branches shown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7406640" y="1225296"/>
            <a:ext cx="3886200" cy="43891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3E0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225296"/>
            <a:ext cx="3886200" cy="274320"/>
          </a:xfrm>
          <a:prstGeom prst="rect">
            <a:avLst/>
          </a:prstGeom>
          <a:solidFill>
            <a:srgbClr val="F3F0EA"/>
          </a:solidFill>
          <a:ln w="12700">
            <a:solidFill>
              <a:srgbClr val="F3F0E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16368" y="1316736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44384" y="131673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131673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8" name="Image 0" descr="/mnt/data/image(599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99616"/>
            <a:ext cx="3877056" cy="413308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516368" y="5678424"/>
            <a:ext cx="3666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i="1" dirty="0">
                <a:solidFill>
                  <a:srgbClr val="64748B"/>
                </a:solidFill>
              </a:rPr>
              <a:t>Homepage and category entry points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Project Goals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4748B"/>
                </a:solidFill>
              </a:rPr>
              <a:t>WHY THE SYSTEM MATTERS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325880"/>
            <a:ext cx="33832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52704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1717"/>
                </a:solidFill>
              </a:rPr>
              <a:t>Problem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841248" y="185623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Users need a simple, bilingual, and responsive way to browse and order digital products such as cards, balances, subscriptions, and online services.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38912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325880"/>
            <a:ext cx="33832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152704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1717"/>
                </a:solidFill>
              </a:rPr>
              <a:t>Solution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4590288" y="185623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YallaMarket provides a clean storefront, cart, checkout flow, authentication, and admin management supported by a real Express/SQLite backend.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8138160" y="132588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325880"/>
            <a:ext cx="338328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152704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1717"/>
                </a:solidFill>
              </a:rPr>
              <a:t>Academic Goal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8339328" y="1856232"/>
            <a:ext cx="29809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Demonstrate a full Software Engineering lifecycle: requirements, design, implementation, testing, Agile tracking, version control, and final proof of work.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49808" y="3840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1717"/>
                </a:solidFill>
              </a:rPr>
              <a:t>Final delivery focus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" y="4315968"/>
            <a:ext cx="50292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• Polished implementation rather than major redesign
• Professional documentation and QA evidence
• Clear Jira + GitHub proof of collaboration
• Reliable video demo flow for the final presentation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4919472" cy="173736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12700">
            <a:solidFill>
              <a:srgbClr val="FCD9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40782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Scope note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93408" y="4443984"/>
            <a:ext cx="4187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475569"/>
                </a:solidFill>
              </a:rPr>
              <a:t>The project supports payment method selection, but real payment gateway integration is documented as a future enhancement.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Coverage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4748B"/>
                </a:solidFill>
              </a:rPr>
              <a:t>FUNCTIONAL AND NON-FUNCTIONAL SCOPE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29844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538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14264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Browse Categories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74320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Homepage category entry points and navigation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6217920" y="129844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45389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142646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Product Catalog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27532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Category products, search/filter, product details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685800" y="225856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4140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23865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Cart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743200" y="2377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Add, update, remove, totals, localStorage persistence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6217920" y="225856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241401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238658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Checkout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275320" y="2377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Customer information, delivery info, payment method, order submission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685800" y="321868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3741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334670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Authentication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274320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Register, login, logout, JWT-based protected APIs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6217920" y="321868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3741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66560" y="334670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Admin Dashboard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8275320" y="3337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Products, categories, orders, and dashboard statistics</a:t>
            </a:r>
            <a:endParaRPr lang="en-US" sz="790" dirty="0"/>
          </a:p>
        </p:txBody>
      </p:sp>
      <p:sp>
        <p:nvSpPr>
          <p:cNvPr id="33" name="Shape 31"/>
          <p:cNvSpPr/>
          <p:nvPr/>
        </p:nvSpPr>
        <p:spPr>
          <a:xfrm>
            <a:off x="685800" y="417880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" y="43342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34440" y="430682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Localization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2743200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Arabic/English language switch with RTL/LTR layout</a:t>
            </a:r>
            <a:endParaRPr lang="en-US" sz="790" dirty="0"/>
          </a:p>
        </p:txBody>
      </p:sp>
      <p:sp>
        <p:nvSpPr>
          <p:cNvPr id="37" name="Shape 35"/>
          <p:cNvSpPr/>
          <p:nvPr/>
        </p:nvSpPr>
        <p:spPr>
          <a:xfrm>
            <a:off x="6217920" y="4178808"/>
            <a:ext cx="4983480" cy="694944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433425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</a:rPr>
              <a:t>✓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766560" y="4306824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1717"/>
                </a:solidFill>
              </a:rPr>
              <a:t>Quality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8275320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475569"/>
                </a:solidFill>
              </a:rPr>
              <a:t>Manual QA report, Jira bug tracking, GitHub evidence</a:t>
            </a:r>
            <a:endParaRPr lang="en-US" sz="790" dirty="0"/>
          </a:p>
        </p:txBody>
      </p:sp>
      <p:sp>
        <p:nvSpPr>
          <p:cNvPr id="41" name="Shape 39"/>
          <p:cNvSpPr/>
          <p:nvPr/>
        </p:nvSpPr>
        <p:spPr>
          <a:xfrm>
            <a:off x="685800" y="5486400"/>
            <a:ext cx="10469880" cy="475488"/>
          </a:xfrm>
          <a:prstGeom prst="roundRect">
            <a:avLst>
              <a:gd name="adj" fmla="val 17308"/>
            </a:avLst>
          </a:prstGeom>
          <a:solidFill>
            <a:srgbClr val="FFF7ED"/>
          </a:solidFill>
          <a:ln w="12700">
            <a:solidFill>
              <a:srgbClr val="FCD9A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" y="5650992"/>
            <a:ext cx="1371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Coverage message: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121408" y="5650992"/>
            <a:ext cx="7955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475569"/>
                </a:solidFill>
              </a:rPr>
              <a:t>The implemented system matches the SRS core scope and documents remaining limitations transparently.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A593E-1A0C-9639-2B94-4FCE44E0C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A855830F-4F59-B885-51C4-BF1E1D2278F4}"/>
              </a:ext>
            </a:extLst>
          </p:cNvPr>
          <p:cNvSpPr/>
          <p:nvPr/>
        </p:nvSpPr>
        <p:spPr>
          <a:xfrm>
            <a:off x="530352" y="301752"/>
            <a:ext cx="7863840" cy="3474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Design Models</a:t>
            </a:r>
            <a:endParaRPr lang="en-US" sz="2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7BBA60-B45D-8B12-8D34-C276C57E839B}"/>
              </a:ext>
            </a:extLst>
          </p:cNvPr>
          <p:cNvSpPr/>
          <p:nvPr/>
        </p:nvSpPr>
        <p:spPr>
          <a:xfrm>
            <a:off x="548640" y="713232"/>
            <a:ext cx="6766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endParaRPr lang="en-US" sz="78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8617B85-3D58-6B60-4FD2-3090F73CB405}"/>
              </a:ext>
            </a:extLst>
          </p:cNvPr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BC978F9-4992-FF88-1EAB-4EB914CF9C28}"/>
              </a:ext>
            </a:extLst>
          </p:cNvPr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96776B3-6B6F-A3C7-9B3C-B18A96B7B14F}"/>
              </a:ext>
            </a:extLst>
          </p:cNvPr>
          <p:cNvSpPr/>
          <p:nvPr/>
        </p:nvSpPr>
        <p:spPr>
          <a:xfrm>
            <a:off x="634482" y="1188721"/>
            <a:ext cx="11395998" cy="527608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ADAA263-3681-39E5-5AB6-882C5FD0D24C}"/>
              </a:ext>
            </a:extLst>
          </p:cNvPr>
          <p:cNvSpPr/>
          <p:nvPr/>
        </p:nvSpPr>
        <p:spPr>
          <a:xfrm>
            <a:off x="744583" y="6570187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1ED5884-0F09-024D-6C9E-316097783DF9}"/>
              </a:ext>
            </a:extLst>
          </p:cNvPr>
          <p:cNvSpPr/>
          <p:nvPr/>
        </p:nvSpPr>
        <p:spPr>
          <a:xfrm>
            <a:off x="548640" y="707632"/>
            <a:ext cx="6766560" cy="2616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High level Architecture Diagram</a:t>
            </a:r>
            <a:endParaRPr lang="en-US" sz="100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7F403F4-4425-3217-DE9B-EE26B6E007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482" y="1188719"/>
            <a:ext cx="11395998" cy="527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2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ERD AND PERSISTENCE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207008"/>
            <a:ext cx="7799832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95360" y="1371600"/>
            <a:ext cx="3035808" cy="3977640"/>
          </a:xfrm>
          <a:prstGeom prst="roundRect">
            <a:avLst>
              <a:gd name="adj" fmla="val 3117"/>
            </a:avLst>
          </a:prstGeom>
          <a:solidFill>
            <a:srgbClr val="FFF7ED"/>
          </a:solidFill>
          <a:ln w="12700">
            <a:solidFill>
              <a:srgbClr val="FCD9A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05088" y="1691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1717"/>
                </a:solidFill>
              </a:rPr>
              <a:t>Core Entities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705088" y="2157984"/>
            <a:ext cx="2788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• users: account, password hash, role
• categories/products: catalog structure
• orders/order_items: checkout persistence
• cart: client-side only, persisted in localStorage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8705088" y="398678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</a:rPr>
              <a:t>Design note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705088" y="43159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SQLite was selected to keep the backend lightweight, portable, and suitable for academic demonstration.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F185E7-EB1D-88B9-78FD-8E1D5B7D9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81763"/>
            <a:ext cx="7444740" cy="36384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Design Models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1"/>
            <a:ext cx="6766560" cy="2377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USE CASE DIAGRAM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4482" y="1188721"/>
            <a:ext cx="11395998" cy="5276088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4583" y="6570187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0D220A7-EDA1-2672-D852-FE1045934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482" y="1188722"/>
            <a:ext cx="11395998" cy="52760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Behavioral Design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1"/>
            <a:ext cx="6766560" cy="2552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64748B"/>
                </a:solidFill>
              </a:rPr>
              <a:t>SEQUENCE DIAGRAMS FOR LANGUAGE SWITCH FLOW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243583"/>
            <a:ext cx="11100816" cy="511914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11" name="Text 8"/>
          <p:cNvSpPr/>
          <p:nvPr/>
        </p:nvSpPr>
        <p:spPr>
          <a:xfrm>
            <a:off x="4480560" y="6097089"/>
            <a:ext cx="3200400" cy="24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Language switch flow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77240" y="636347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475569"/>
                </a:solidFill>
              </a:rPr>
              <a:t>The diagram connect UI behavior to contexts, services, localStorage, Express APIs, JWT checks, and SQLite persistence.</a:t>
            </a:r>
            <a:endParaRPr lang="en-US" sz="1030" dirty="0"/>
          </a:p>
        </p:txBody>
      </p:sp>
      <p:sp>
        <p:nvSpPr>
          <p:cNvPr id="19" name="Text 14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C31A7D5-EC72-E25F-1AE0-827F6C815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191" y="1269439"/>
            <a:ext cx="6735147" cy="47239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7AAF9-DA9B-F909-928F-33761DBA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C65C25F3-9789-644C-3795-8E6E6ED90377}"/>
              </a:ext>
            </a:extLst>
          </p:cNvPr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400" b="1" dirty="0"/>
              <a:t>Structural Diagrams</a:t>
            </a:r>
            <a:endParaRPr lang="en-US" sz="2300" b="1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AE3B47-C167-8AF6-8CCC-94F591775B71}"/>
              </a:ext>
            </a:extLst>
          </p:cNvPr>
          <p:cNvSpPr/>
          <p:nvPr/>
        </p:nvSpPr>
        <p:spPr>
          <a:xfrm>
            <a:off x="548640" y="713231"/>
            <a:ext cx="6766560" cy="2849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64748B"/>
                </a:solidFill>
              </a:rPr>
              <a:t>Class Diagram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60D358-ED8B-C0A8-5E9F-1202DDBAFB51}"/>
              </a:ext>
            </a:extLst>
          </p:cNvPr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13098C5-D442-3F44-DE48-B0C9EFE3C062}"/>
              </a:ext>
            </a:extLst>
          </p:cNvPr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59A9C74-98FD-1239-8CD9-435A30150538}"/>
              </a:ext>
            </a:extLst>
          </p:cNvPr>
          <p:cNvSpPr/>
          <p:nvPr/>
        </p:nvSpPr>
        <p:spPr>
          <a:xfrm>
            <a:off x="594360" y="1243583"/>
            <a:ext cx="11100816" cy="511914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E44B5D5-0B1E-A59C-B299-7415ED145BF9}"/>
              </a:ext>
            </a:extLst>
          </p:cNvPr>
          <p:cNvSpPr/>
          <p:nvPr/>
        </p:nvSpPr>
        <p:spPr>
          <a:xfrm>
            <a:off x="4480560" y="6097089"/>
            <a:ext cx="3200400" cy="24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Class diagram</a:t>
            </a:r>
            <a:endParaRPr lang="en-US" sz="12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B3785CFE-F85F-1236-FCCB-DED0898D9F11}"/>
              </a:ext>
            </a:extLst>
          </p:cNvPr>
          <p:cNvSpPr/>
          <p:nvPr/>
        </p:nvSpPr>
        <p:spPr>
          <a:xfrm>
            <a:off x="777240" y="636347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00" dirty="0"/>
              <a:t>The diagram shows the relationships between system classes, attributes, and method</a:t>
            </a: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A79A51E-A4C8-8848-8459-4F4D2C729BBF}"/>
              </a:ext>
            </a:extLst>
          </p:cNvPr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1A84A15-E997-0F20-1CF4-5FCCF9A8D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4912" y="1242832"/>
            <a:ext cx="6424192" cy="485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18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5F883-2AE9-095C-09A5-09326CAD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2E2E1832-03E6-C321-72A0-93C3E0186BA7}"/>
              </a:ext>
            </a:extLst>
          </p:cNvPr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</a:rPr>
              <a:t>Behavioral</a:t>
            </a: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Design</a:t>
            </a:r>
            <a:endParaRPr lang="en-US" sz="2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64F8AA-CBE1-C280-03F6-E980B27DFCDF}"/>
              </a:ext>
            </a:extLst>
          </p:cNvPr>
          <p:cNvSpPr/>
          <p:nvPr/>
        </p:nvSpPr>
        <p:spPr>
          <a:xfrm>
            <a:off x="548640" y="7132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dirty="0">
                <a:solidFill>
                  <a:srgbClr val="64748B"/>
                </a:solidFill>
              </a:rPr>
              <a:t>SEQUENCE DIAGRAMS FOR Checkout flow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E545FD-CE6F-D707-41AB-37E2ED8201D3}"/>
              </a:ext>
            </a:extLst>
          </p:cNvPr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DF04B8F-A9B2-3E96-9B0A-675792F9C584}"/>
              </a:ext>
            </a:extLst>
          </p:cNvPr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FE0963C-68C8-965E-7856-40C0FC11E43F}"/>
              </a:ext>
            </a:extLst>
          </p:cNvPr>
          <p:cNvSpPr/>
          <p:nvPr/>
        </p:nvSpPr>
        <p:spPr>
          <a:xfrm>
            <a:off x="594360" y="1243583"/>
            <a:ext cx="11100816" cy="5119144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F21C2C7-B531-7577-E006-E6F03D9F7A0F}"/>
              </a:ext>
            </a:extLst>
          </p:cNvPr>
          <p:cNvSpPr/>
          <p:nvPr/>
        </p:nvSpPr>
        <p:spPr>
          <a:xfrm>
            <a:off x="4480560" y="6097089"/>
            <a:ext cx="3200400" cy="244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Checkout Flow</a:t>
            </a:r>
            <a:endParaRPr lang="en-US" sz="12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5E73B678-C4F7-346D-BB4C-895D30BCB41C}"/>
              </a:ext>
            </a:extLst>
          </p:cNvPr>
          <p:cNvSpPr/>
          <p:nvPr/>
        </p:nvSpPr>
        <p:spPr>
          <a:xfrm>
            <a:off x="777240" y="6363478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475569"/>
                </a:solidFill>
              </a:rPr>
              <a:t>The diagram connect UI behavior to contexts, services, localStorage, Express APIs, JWT checks, and SQLite persistence.</a:t>
            </a:r>
            <a:endParaRPr lang="en-US" sz="103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59BBC161-8FD6-00FC-CF2C-DDB049A5DAEC}"/>
              </a:ext>
            </a:extLst>
          </p:cNvPr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8F00A3-B3DD-2436-C4DA-1D1DF9ACF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724" y="1307592"/>
            <a:ext cx="5570606" cy="462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6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Assurance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MANUAL TESTING AND FINAL QA SPRINT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325880"/>
            <a:ext cx="1645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4356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20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179222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manual test cases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2697480" y="1325880"/>
            <a:ext cx="1645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14356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07208" y="179222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bugs verified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4617720" y="1325880"/>
            <a:ext cx="164592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4356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100%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27448" y="1792224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64748B"/>
                </a:solidFill>
              </a:rPr>
              <a:t>final pass status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777240" y="2606040"/>
            <a:ext cx="544068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27980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1717"/>
                </a:solidFill>
              </a:rPr>
              <a:t>Test Coverage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3273552"/>
            <a:ext cx="46177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• Home/categories/product browsing
• Cart operations and persistence
• Authentication and route protection
• Checkout and order submission
• Admin dashboard and order status updates
• Localization and fallback handling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132588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FFF7ED"/>
          </a:solidFill>
          <a:ln w="12700">
            <a:solidFill>
              <a:srgbClr val="FCD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1581912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71717"/>
                </a:solidFill>
              </a:rPr>
              <a:t>Sprint 5 Bugs Closed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76288" y="2148840"/>
            <a:ext cx="352044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</a:rPr>
              <a:t>• SCRUM-127: cart total update
• SCRUM-128: checkout validation clarity
• SCRUM-129: RTL/LTR consistency
• SCRUM-130: invalid route fallback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76288" y="3886200"/>
            <a:ext cx="39378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All final QA bugs were moved to Done and documented as resolved/verified.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Agile Project Management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1"/>
            <a:ext cx="6766560" cy="225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JIRA SPRINT EVIDENCE AND VELOCITY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177409"/>
            <a:ext cx="5349240" cy="199921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89426" y="3246745"/>
            <a:ext cx="4892040" cy="347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Sprint 1: setup, SRS, home, navigation, diagrams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3625118"/>
            <a:ext cx="5413248" cy="2070199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5750180"/>
            <a:ext cx="4892040" cy="20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Sprint 3: backend, SQLite models, auth, sample data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81928" y="1177409"/>
            <a:ext cx="5349240" cy="1999214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12986" y="3248908"/>
            <a:ext cx="4892040" cy="347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Sprint 5: final QA, bugs, documentation, evidence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217920" y="3625118"/>
            <a:ext cx="5413248" cy="2070199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446520" y="5750180"/>
            <a:ext cx="4892040" cy="20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Velocity report: iterative delivery across sprints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779417" y="6070221"/>
            <a:ext cx="10754215" cy="384048"/>
          </a:xfrm>
          <a:prstGeom prst="roundRect">
            <a:avLst>
              <a:gd name="adj" fmla="val 28571"/>
            </a:avLst>
          </a:prstGeom>
          <a:solidFill>
            <a:srgbClr val="0E0E0E"/>
          </a:solidFill>
          <a:ln w="12700">
            <a:solidFill>
              <a:srgbClr val="0E0E0E">
                <a:alpha val="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097280" y="6143811"/>
            <a:ext cx="9692640" cy="2682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Jira evidence demonstrates backlog management, sprint planning, bug tracking, task ownership, and completion status.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3E03834-70A6-B30A-03DF-A3D2464A5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17" y="1315994"/>
            <a:ext cx="5147964" cy="172204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D7E270F-8904-1414-F3B5-6A99984F5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17" y="3837199"/>
            <a:ext cx="5147964" cy="17048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FD59FA4-DC0C-E49D-6D83-6305A5634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296588"/>
            <a:ext cx="5087112" cy="174144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6F93ECD-D8CD-4A13-4FFA-2ED825D522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816409"/>
            <a:ext cx="5087112" cy="17255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30352" y="30175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17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Version Control &amp; Collaboration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713231"/>
            <a:ext cx="6766560" cy="2440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GITHUB REPOSITORY AND JIRA-LINKED WORK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83696" y="3931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969264"/>
            <a:ext cx="11100816" cy="0"/>
          </a:xfrm>
          <a:prstGeom prst="line">
            <a:avLst/>
          </a:prstGeom>
          <a:noFill/>
          <a:ln w="12700">
            <a:solidFill>
              <a:srgbClr val="E7E2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1" y="1380743"/>
            <a:ext cx="6159138" cy="3236977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30007" y="1380743"/>
            <a:ext cx="5253134" cy="1274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17553" y="1699699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1717"/>
                </a:solidFill>
              </a:rPr>
              <a:t>Repository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17553" y="2065459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2563EB"/>
                </a:solidFill>
              </a:rPr>
              <a:t>github.com/BaraaMasri99/yallaMarket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7017553" y="2394643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46 commits • 11 branches • final source ZIP ready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6744145" y="2868392"/>
            <a:ext cx="5338998" cy="174932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4DE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635240" y="4377147"/>
            <a:ext cx="3520440" cy="2060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Merged PRs linked with Jira issues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13840" y="5648753"/>
            <a:ext cx="10543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</a:rPr>
              <a:t>Collaboration message: Jira issues defined the work, GitHub branches/commits/PRs provided traceable implementation evidence.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45FA27E4-E621-4B7F-7B26-446EE55F3C83}"/>
              </a:ext>
            </a:extLst>
          </p:cNvPr>
          <p:cNvSpPr/>
          <p:nvPr/>
        </p:nvSpPr>
        <p:spPr>
          <a:xfrm>
            <a:off x="2263140" y="4377147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GitHub repo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AED326-7AA9-B76E-D70B-41BD0D966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008" y="3020605"/>
            <a:ext cx="5178490" cy="13306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A972E4-74EE-1D34-7ED7-59A1417A7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79" y="1715942"/>
            <a:ext cx="5887461" cy="26352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3258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Submission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59536" y="214884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DEBC8"/>
                </a:solidFill>
              </a:rPr>
              <a:t>YallaMarket demonstrates a complete software engineering process: requirements, design, implementation, QA, Agile tracking, GitHub collaboration, and proof-of-work demo.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79476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61288" y="3813048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Final Report PDF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3108960" y="379476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01568" y="3813048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QA Report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5349240" y="3794760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41848" y="3813048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PPTX Presentation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868680" y="436168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" y="4379976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Video Demo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108960" y="436168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4379976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GitHub URL + ZIP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5349240" y="4361688"/>
            <a:ext cx="228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41848" y="4379976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FFFFFF"/>
                </a:solidFill>
              </a:rPr>
              <a:t>Jira Evidence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868680" y="5705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2400" b="1" dirty="0">
                <a:solidFill>
                  <a:srgbClr val="F59E0B"/>
                </a:solidFill>
              </a:rPr>
              <a:t>Thank You </a:t>
            </a:r>
            <a:r>
              <a:rPr lang="en-US" sz="2400" b="1" dirty="0" err="1">
                <a:solidFill>
                  <a:srgbClr val="F59E0B"/>
                </a:solidFill>
              </a:rPr>
              <a:t>Dr.Firas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8680" y="6108192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E5E7EB"/>
                </a:solidFill>
              </a:rPr>
              <a:t>Baraa Masri • Hamed Bizreh • Yahya </a:t>
            </a:r>
            <a:r>
              <a:rPr lang="en-US" sz="950" dirty="0" err="1">
                <a:solidFill>
                  <a:srgbClr val="E5E7EB"/>
                </a:solidFill>
              </a:rPr>
              <a:t>Zyoud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0352" y="6565392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60" dirty="0">
                <a:solidFill>
                  <a:srgbClr val="9CA3AF"/>
                </a:solidFill>
              </a:rPr>
              <a:t>YallaMarket  •  Software Engineering Final Presentation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1026</Words>
  <Application>Microsoft Office PowerPoint</Application>
  <PresentationFormat>Widescreen</PresentationFormat>
  <Paragraphs>181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An-Najah National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YallaMarket — Professional Final Presentation</dc:title>
  <dc:subject>YallaMarket Final Software Engineering Presentation</dc:subject>
  <dc:creator>Baraa Masri</dc:creator>
  <cp:lastModifiedBy>baraa masri</cp:lastModifiedBy>
  <cp:revision>191</cp:revision>
  <dcterms:created xsi:type="dcterms:W3CDTF">2026-05-12T13:46:32Z</dcterms:created>
  <dcterms:modified xsi:type="dcterms:W3CDTF">2026-05-19T17:58:19Z</dcterms:modified>
</cp:coreProperties>
</file>