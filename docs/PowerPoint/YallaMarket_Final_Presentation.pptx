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3" r:id="rId9"/>
    <p:sldId id="264" r:id="rId10"/>
    <p:sldId id="265" r:id="rId11"/>
    <p:sldId id="272" r:id="rId12"/>
    <p:sldId id="273" r:id="rId13"/>
    <p:sldId id="266" r:id="rId14"/>
    <p:sldId id="267" r:id="rId15"/>
    <p:sldId id="274" r:id="rId16"/>
    <p:sldId id="268" r:id="rId17"/>
    <p:sldId id="269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5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2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54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2219-FA79-491D-3F35-4D94CB7E2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D93FCE-A18D-6C43-631A-52E33B1E8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06FFF-3D17-EC70-5C36-A26450EC1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73C39-4A04-EAE0-082A-D57D61864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99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7596B-F790-864B-10B6-EA0302B32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48D78-66D2-02E4-A212-4A59C33EA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9EBB5-C05A-28B2-3271-A920FC335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CC0BD-CC9B-0EA8-BCCE-F77B44902D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87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B3BA9-BF41-0086-D832-3D710A7C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FF011-DC6D-9789-AF69-64A89A75C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38016-71FB-4BF8-F413-A1CB951E4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A7678-E669-64AF-94FB-BA6B461036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561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13232" y="7132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YallaMarket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Full‑Stack Digital Marketplace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18105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Software Engineering Final Presentation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2359152"/>
            <a:ext cx="1764792" cy="292608"/>
          </a:xfrm>
          <a:prstGeom prst="roundRect">
            <a:avLst>
              <a:gd name="adj" fmla="val 25000"/>
            </a:avLst>
          </a:prstGeom>
          <a:solidFill>
            <a:srgbClr val="0E0E0E"/>
          </a:solidFill>
          <a:ln w="12700">
            <a:solidFill>
              <a:srgbClr val="0E0E0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432304"/>
            <a:ext cx="1545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React + Vite + Tailwind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2670048" y="2359152"/>
            <a:ext cx="157276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9776" y="2432304"/>
            <a:ext cx="13533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Express.js + SQLite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4407408" y="2359152"/>
            <a:ext cx="850392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2432304"/>
            <a:ext cx="630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JWT Auth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749808" y="5413248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1717"/>
                </a:solidFill>
              </a:rPr>
              <a:t>An‑Najah National University  •  Computer Science Apprenticeship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572414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Team: Baraa Masri, Hamed Bizreh, Yahya </a:t>
            </a:r>
            <a:r>
              <a:rPr lang="en-US" sz="950" dirty="0" err="1">
                <a:solidFill>
                  <a:srgbClr val="475569"/>
                </a:solidFill>
              </a:rPr>
              <a:t>Zyoud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" y="599846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Instructor: Dr. Firas Shakaa  •  Second Semester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635240" y="475488"/>
            <a:ext cx="3035808" cy="5623560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475488"/>
            <a:ext cx="3035808" cy="27432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44968" y="566928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56692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56692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2" name="Image 0" descr="/mnt/data/image(59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731520"/>
            <a:ext cx="3035808" cy="52669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744968" y="6163056"/>
            <a:ext cx="2816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64748B"/>
                </a:solidFill>
              </a:rPr>
              <a:t>Final storefront screenshot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12737CB-28FF-88F3-EF49-5696958D0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787467"/>
              </p:ext>
            </p:extLst>
          </p:nvPr>
        </p:nvGraphicFramePr>
        <p:xfrm>
          <a:off x="713232" y="2999232"/>
          <a:ext cx="4572000" cy="20880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48677597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108987483"/>
                    </a:ext>
                  </a:extLst>
                </a:gridCol>
              </a:tblGrid>
              <a:tr h="1695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Stakeholder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972649"/>
                  </a:ext>
                </a:extLst>
              </a:tr>
              <a:tr h="3480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Guest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Unauthenticated visitor browsing the storefront.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05038"/>
                  </a:ext>
                </a:extLst>
              </a:tr>
              <a:tr h="3480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Registered User</a:t>
                      </a:r>
                      <a:endParaRPr lang="en-US" sz="10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Customer with an account.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511297"/>
                  </a:ext>
                </a:extLst>
              </a:tr>
              <a:tr h="3480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Admin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Store manager/operator.</a:t>
                      </a:r>
                      <a:endParaRPr lang="en-US" sz="10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059670"/>
                  </a:ext>
                </a:extLst>
              </a:tr>
              <a:tr h="3480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Development Team</a:t>
                      </a:r>
                      <a:endParaRPr lang="en-US" sz="10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Students building and documenting the system.</a:t>
                      </a:r>
                      <a:endParaRPr lang="en-US" sz="10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889081"/>
                  </a:ext>
                </a:extLst>
              </a:tr>
              <a:tr h="5264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Instructor / Evaluator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Software Engineering course reviewer.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8986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Snapshot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6766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64748B"/>
                </a:solidFill>
              </a:rPr>
              <a:t>WHAT WE BUILT AND DELIVERED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61872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71717"/>
                </a:solidFill>
              </a:rPr>
              <a:t>YallaMarket is a bilingual marketplace for digital products and online services, implemented as a complete full‑stack university Software Engineering project.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76656" y="2148840"/>
            <a:ext cx="53492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• Frontend: React, Vite, Tailwind CSS, React Router, Context API
• Backend: Express.js REST APIs with SQLite persistence
• Authentication: JWT-based login and protected admin endpoints
• Process evidence: SRS, UML/ERD, QA report, Jira sprints, GitHub collaboration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" y="3886200"/>
            <a:ext cx="14264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9959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20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" y="43525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4748B"/>
                </a:solidFill>
              </a:rPr>
              <a:t>manual test cases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2313432" y="3886200"/>
            <a:ext cx="14264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39959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23160" y="43525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4748B"/>
                </a:solidFill>
              </a:rPr>
              <a:t>documented sprints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3950208" y="3886200"/>
            <a:ext cx="14264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59936" y="39959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50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59936" y="43525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4748B"/>
                </a:solidFill>
              </a:rPr>
              <a:t>commits shown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586984" y="3886200"/>
            <a:ext cx="14264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96712" y="39959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11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96712" y="43525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4748B"/>
                </a:solidFill>
              </a:rPr>
              <a:t>branches shown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7406640" y="1225296"/>
            <a:ext cx="3886200" cy="43891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1225296"/>
            <a:ext cx="3886200" cy="27432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16368" y="131673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44384" y="131673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131673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8" name="Image 0" descr="/mnt/data/image(59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99616"/>
            <a:ext cx="3877056" cy="413308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516368" y="5678424"/>
            <a:ext cx="3666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64748B"/>
                </a:solidFill>
              </a:rPr>
              <a:t>Homepage and category entry points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Project Goals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6766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64748B"/>
                </a:solidFill>
              </a:rPr>
              <a:t>WHY THE SYSTEM MATTERS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325880"/>
            <a:ext cx="33832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52704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71717"/>
                </a:solidFill>
              </a:rPr>
              <a:t>Problem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841248" y="185623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Users need a simple, bilingual, and responsive way to browse and order digital products such as cards, balances, subscriptions, and online services.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389120" y="13258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325880"/>
            <a:ext cx="33832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52704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71717"/>
                </a:solidFill>
              </a:rPr>
              <a:t>Solution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4590288" y="185623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YallaMarket provides a clean storefront, cart, checkout flow, authentication, and admin management supported by a real Express/SQLite backend.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138160" y="13258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325880"/>
            <a:ext cx="33832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152704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71717"/>
                </a:solidFill>
              </a:rPr>
              <a:t>Academic Goal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8339328" y="185623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Demonstrate a full Software Engineering lifecycle: requirements, design, implementation, testing, Agile tracking, version control, and final proof of work.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749808" y="3840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1717"/>
                </a:solidFill>
              </a:rPr>
              <a:t>Final delivery focus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8096" y="4315968"/>
            <a:ext cx="50292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• Polished implementation rather than major redesign
• Professional documentation and QA evidence
• Clear Jira + GitHub proof of collaboration
• Reliable video demo flow for the final presentation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4919472" cy="173736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 w="12700">
            <a:solidFill>
              <a:srgbClr val="FCD9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4078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Scope note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93408" y="4443984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475569"/>
                </a:solidFill>
              </a:rPr>
              <a:t>The project supports payment method selection, but real payment gateway integration is documented as a future enhancement.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Requirements Coverage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6766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64748B"/>
                </a:solidFill>
              </a:rPr>
              <a:t>FUNCTIONAL AND NON-FUNCTIONAL SCOPE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9844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5389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14264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Browse Categories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4320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Homepage category entry points and navigation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6217920" y="129844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45389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14264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Product Catalog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27532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Category products, search/filter, product details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685800" y="225856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4140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23865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Cart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743200" y="2377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Add, update, remove, totals, localStorage persistence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6217920" y="225856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24140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23865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Checkout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275320" y="2377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Customer information, delivery info, payment method, order submission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685800" y="321868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37413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334670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Authentication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274320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Register, login, logout, JWT-based protected APIs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6217920" y="321868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337413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66560" y="334670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Admin Dashboard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827532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Products, categories, orders, and dashboard statistics</a:t>
            </a:r>
            <a:endParaRPr lang="en-US" sz="790" dirty="0"/>
          </a:p>
        </p:txBody>
      </p:sp>
      <p:sp>
        <p:nvSpPr>
          <p:cNvPr id="33" name="Shape 31"/>
          <p:cNvSpPr/>
          <p:nvPr/>
        </p:nvSpPr>
        <p:spPr>
          <a:xfrm>
            <a:off x="685800" y="417880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433425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34440" y="430682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Localization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2743200" y="4297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Arabic/English language switch with RTL/LTR layout</a:t>
            </a:r>
            <a:endParaRPr lang="en-US" sz="790" dirty="0"/>
          </a:p>
        </p:txBody>
      </p:sp>
      <p:sp>
        <p:nvSpPr>
          <p:cNvPr id="37" name="Shape 35"/>
          <p:cNvSpPr/>
          <p:nvPr/>
        </p:nvSpPr>
        <p:spPr>
          <a:xfrm>
            <a:off x="6217920" y="417880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433425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766560" y="430682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Quality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8275320" y="4297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Manual QA report, Jira bug tracking, GitHub evidence</a:t>
            </a:r>
            <a:endParaRPr lang="en-US" sz="790" dirty="0"/>
          </a:p>
        </p:txBody>
      </p:sp>
      <p:sp>
        <p:nvSpPr>
          <p:cNvPr id="41" name="Shape 39"/>
          <p:cNvSpPr/>
          <p:nvPr/>
        </p:nvSpPr>
        <p:spPr>
          <a:xfrm>
            <a:off x="685800" y="5486400"/>
            <a:ext cx="10469880" cy="475488"/>
          </a:xfrm>
          <a:prstGeom prst="roundRect">
            <a:avLst>
              <a:gd name="adj" fmla="val 17308"/>
            </a:avLst>
          </a:prstGeom>
          <a:solidFill>
            <a:srgbClr val="FFF7ED"/>
          </a:solidFill>
          <a:ln w="12700">
            <a:solidFill>
              <a:srgbClr val="FCD9A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2688" y="5650992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Coverage message: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121408" y="5650992"/>
            <a:ext cx="7955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</a:rPr>
              <a:t>The implemented system matches the SRS core scope and documents remaining limitations transparently.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6766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64748B"/>
                </a:solidFill>
              </a:rPr>
              <a:t>THREE-LAYER FULL-STACK DESIGN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417320"/>
            <a:ext cx="5257800" cy="868680"/>
          </a:xfrm>
          <a:prstGeom prst="roundRect">
            <a:avLst>
              <a:gd name="adj" fmla="val 11579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636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</a:rPr>
              <a:t>Presentation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88920" y="15727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75569"/>
                </a:solidFill>
              </a:rPr>
              <a:t>React + Vite + Tailwind CSS + React Router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024128" y="190195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</a:rPr>
              <a:t>UI rendering, routing, RTL/LTR, product browsing, cart, checkout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777240" y="2651760"/>
            <a:ext cx="5257800" cy="868680"/>
          </a:xfrm>
          <a:prstGeom prst="roundRect">
            <a:avLst>
              <a:gd name="adj" fmla="val 11579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7980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</a:rPr>
              <a:t>Application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28072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75569"/>
                </a:solidFill>
              </a:rPr>
              <a:t>Express.js + controllers + middleware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024128" y="313639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</a:rPr>
              <a:t>REST APIs, validation, authentication, protected admin actions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777240" y="3886200"/>
            <a:ext cx="5257800" cy="868680"/>
          </a:xfrm>
          <a:prstGeom prst="roundRect">
            <a:avLst>
              <a:gd name="adj" fmla="val 11579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0325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88920" y="40416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75569"/>
                </a:solidFill>
              </a:rPr>
              <a:t>SQLite + relational tables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024128" y="437083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</a:rPr>
              <a:t>Persistent storage for users, products, categories, orders, order items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629400" y="1325880"/>
            <a:ext cx="4343400" cy="3621024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1645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1717"/>
                </a:solidFill>
              </a:rPr>
              <a:t>Key Architecture Decisions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49440" y="2148840"/>
            <a:ext cx="40233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• Reusable components and service modules
• Centralized cart/auth/language contexts
• Server-side order total and stock validation
• Admin endpoints protected by JWT and role checks
• Cart remains client-side until checkout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327855" y="2792839"/>
            <a:ext cx="1998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Site Demo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6766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64748B"/>
                </a:solidFill>
              </a:rPr>
              <a:t>HOMEPAGE, CATEGORIES, AND PRODUCT BROWSING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51560" y="6053328"/>
            <a:ext cx="9601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Demo points: search within categories, browse products, view prices/stock, and add available items to the cart.</a:t>
            </a:r>
            <a:endParaRPr lang="en-US" sz="830" dirty="0"/>
          </a:p>
        </p:txBody>
      </p:sp>
      <p:sp>
        <p:nvSpPr>
          <p:cNvPr id="25" name="Text 21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A593E-1A0C-9639-2B94-4FCE44E0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A855830F-4F59-B885-51C4-BF1E1D2278F4}"/>
              </a:ext>
            </a:extLst>
          </p:cNvPr>
          <p:cNvSpPr/>
          <p:nvPr/>
        </p:nvSpPr>
        <p:spPr>
          <a:xfrm>
            <a:off x="530352" y="301752"/>
            <a:ext cx="7863840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Design Models</a:t>
            </a:r>
            <a:endParaRPr lang="en-US" sz="2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F7BBA60-B45D-8B12-8D34-C276C57E839B}"/>
              </a:ext>
            </a:extLst>
          </p:cNvPr>
          <p:cNvSpPr/>
          <p:nvPr/>
        </p:nvSpPr>
        <p:spPr>
          <a:xfrm>
            <a:off x="548640" y="713232"/>
            <a:ext cx="6766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endParaRPr lang="en-US" sz="78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8617B85-3D58-6B60-4FD2-3090F73CB405}"/>
              </a:ext>
            </a:extLst>
          </p:cNvPr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BC978F9-4992-FF88-1EAB-4EB914CF9C28}"/>
              </a:ext>
            </a:extLst>
          </p:cNvPr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96776B3-6B6F-A3C7-9B3C-B18A96B7B14F}"/>
              </a:ext>
            </a:extLst>
          </p:cNvPr>
          <p:cNvSpPr/>
          <p:nvPr/>
        </p:nvSpPr>
        <p:spPr>
          <a:xfrm>
            <a:off x="634482" y="1188721"/>
            <a:ext cx="11395998" cy="527608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FADAA263-3681-39E5-5AB6-882C5FD0D24C}"/>
              </a:ext>
            </a:extLst>
          </p:cNvPr>
          <p:cNvSpPr/>
          <p:nvPr/>
        </p:nvSpPr>
        <p:spPr>
          <a:xfrm>
            <a:off x="744583" y="6570187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F011FE-601D-4FF5-2BDD-C114D1D90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72174" y="1188721"/>
            <a:ext cx="7326389" cy="5276088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B1ED5884-0F09-024D-6C9E-316097783DF9}"/>
              </a:ext>
            </a:extLst>
          </p:cNvPr>
          <p:cNvSpPr/>
          <p:nvPr/>
        </p:nvSpPr>
        <p:spPr>
          <a:xfrm>
            <a:off x="548640" y="707632"/>
            <a:ext cx="6766560" cy="2616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High level Architecture Diagram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60026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Design Models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1"/>
            <a:ext cx="6766560" cy="2377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USE CASE DIAGRAM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4482" y="1188721"/>
            <a:ext cx="11395998" cy="527608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4583" y="6570187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A5A213-728E-A688-4233-D8F01A8E6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282" y="1408177"/>
            <a:ext cx="7506343" cy="48188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ERD AND PERSISTENCE 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207008"/>
            <a:ext cx="7799832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0" y="1371600"/>
            <a:ext cx="3035808" cy="3977640"/>
          </a:xfrm>
          <a:prstGeom prst="roundRect">
            <a:avLst>
              <a:gd name="adj" fmla="val 3117"/>
            </a:avLst>
          </a:prstGeom>
          <a:solidFill>
            <a:srgbClr val="FFF7ED"/>
          </a:solidFill>
          <a:ln w="12700">
            <a:solidFill>
              <a:srgbClr val="FCD9A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05088" y="1691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1717"/>
                </a:solidFill>
              </a:rPr>
              <a:t>Core Entities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705088" y="2157984"/>
            <a:ext cx="2788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• users: account, password hash, role
• categories/products: catalog structure
• orders/order_items: checkout persistence
• cart: client-side only, persisted in localStorage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705088" y="39867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Design note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705088" y="431596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SQLite was selected to keep the backend lightweight, portable, and suitable for academic demonstration.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F185E7-EB1D-88B9-78FD-8E1D5B7D9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81763"/>
            <a:ext cx="7444740" cy="36384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Behavioral Design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1"/>
            <a:ext cx="6766560" cy="255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dirty="0">
                <a:solidFill>
                  <a:srgbClr val="64748B"/>
                </a:solidFill>
              </a:rPr>
              <a:t>SEQUENCE DIAGRAMS FOR LANGUAGE SWITCH FLOW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243583"/>
            <a:ext cx="11100816" cy="511914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11" name="Text 8"/>
          <p:cNvSpPr/>
          <p:nvPr/>
        </p:nvSpPr>
        <p:spPr>
          <a:xfrm>
            <a:off x="4480560" y="6097089"/>
            <a:ext cx="3200400" cy="24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Language switch flow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77240" y="6363478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475569"/>
                </a:solidFill>
              </a:rPr>
              <a:t>The diagram connect UI behavior to contexts, services, localStorage, Express APIs, JWT checks, and SQLite persistence.</a:t>
            </a:r>
            <a:endParaRPr lang="en-US" sz="1030" dirty="0"/>
          </a:p>
        </p:txBody>
      </p:sp>
      <p:sp>
        <p:nvSpPr>
          <p:cNvPr id="19" name="Text 14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C31A7D5-EC72-E25F-1AE0-827F6C815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191" y="1269439"/>
            <a:ext cx="6735147" cy="47239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5F883-2AE9-095C-09A5-09326CAD3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2E2E1832-03E6-C321-72A0-93C3E0186BA7}"/>
              </a:ext>
            </a:extLst>
          </p:cNvPr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Behavioral Design</a:t>
            </a:r>
            <a:endParaRPr lang="en-US" sz="2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64F8AA-CBE1-C280-03F6-E980B27DFCDF}"/>
              </a:ext>
            </a:extLst>
          </p:cNvPr>
          <p:cNvSpPr/>
          <p:nvPr/>
        </p:nvSpPr>
        <p:spPr>
          <a:xfrm>
            <a:off x="548640" y="7132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dirty="0">
                <a:solidFill>
                  <a:srgbClr val="64748B"/>
                </a:solidFill>
              </a:rPr>
              <a:t>SEQUENCE DIAGRAMS FOR LANGUAGE SWITCH FLOW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2E545FD-CE6F-D707-41AB-37E2ED8201D3}"/>
              </a:ext>
            </a:extLst>
          </p:cNvPr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DF04B8F-A9B2-3E96-9B0A-675792F9C584}"/>
              </a:ext>
            </a:extLst>
          </p:cNvPr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FE0963C-68C8-965E-7856-40C0FC11E43F}"/>
              </a:ext>
            </a:extLst>
          </p:cNvPr>
          <p:cNvSpPr/>
          <p:nvPr/>
        </p:nvSpPr>
        <p:spPr>
          <a:xfrm>
            <a:off x="594360" y="1243583"/>
            <a:ext cx="11100816" cy="511914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F21C2C7-B531-7577-E006-E6F03D9F7A0F}"/>
              </a:ext>
            </a:extLst>
          </p:cNvPr>
          <p:cNvSpPr/>
          <p:nvPr/>
        </p:nvSpPr>
        <p:spPr>
          <a:xfrm>
            <a:off x="4480560" y="6097089"/>
            <a:ext cx="3200400" cy="24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Checkout Flow</a:t>
            </a:r>
            <a:endParaRPr lang="en-US" sz="12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5E73B678-C4F7-346D-BB4C-895D30BCB41C}"/>
              </a:ext>
            </a:extLst>
          </p:cNvPr>
          <p:cNvSpPr/>
          <p:nvPr/>
        </p:nvSpPr>
        <p:spPr>
          <a:xfrm>
            <a:off x="777240" y="6363478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475569"/>
                </a:solidFill>
              </a:rPr>
              <a:t>The diagram connect UI behavior to contexts, services, localStorage, Express APIs, JWT checks, and SQLite persistence.</a:t>
            </a:r>
            <a:endParaRPr lang="en-US" sz="103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59BBC161-8FD6-00FC-CF2C-DDB049A5DAEC}"/>
              </a:ext>
            </a:extLst>
          </p:cNvPr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B8F00A3-B3DD-2436-C4DA-1D1DF9ACF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724" y="1307592"/>
            <a:ext cx="5570606" cy="462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61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B7AAF9-DA9B-F909-928F-33761DBA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C65C25F3-9789-644C-3795-8E6E6ED90377}"/>
              </a:ext>
            </a:extLst>
          </p:cNvPr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Behavioral Design</a:t>
            </a:r>
            <a:endParaRPr lang="en-US" sz="2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AE3B47-C167-8AF6-8CCC-94F591775B71}"/>
              </a:ext>
            </a:extLst>
          </p:cNvPr>
          <p:cNvSpPr/>
          <p:nvPr/>
        </p:nvSpPr>
        <p:spPr>
          <a:xfrm>
            <a:off x="548640" y="713231"/>
            <a:ext cx="6766560" cy="284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dirty="0">
                <a:solidFill>
                  <a:srgbClr val="64748B"/>
                </a:solidFill>
              </a:rPr>
              <a:t>SEQUENCE DIAGRAMS FOR LANGUAGE SWITCH FLOW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160D358-ED8B-C0A8-5E9F-1202DDBAFB51}"/>
              </a:ext>
            </a:extLst>
          </p:cNvPr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13098C5-D442-3F44-DE48-B0C9EFE3C062}"/>
              </a:ext>
            </a:extLst>
          </p:cNvPr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59A9C74-98FD-1239-8CD9-435A30150538}"/>
              </a:ext>
            </a:extLst>
          </p:cNvPr>
          <p:cNvSpPr/>
          <p:nvPr/>
        </p:nvSpPr>
        <p:spPr>
          <a:xfrm>
            <a:off x="594360" y="1243583"/>
            <a:ext cx="11100816" cy="511914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E44B5D5-0B1E-A59C-B299-7415ED145BF9}"/>
              </a:ext>
            </a:extLst>
          </p:cNvPr>
          <p:cNvSpPr/>
          <p:nvPr/>
        </p:nvSpPr>
        <p:spPr>
          <a:xfrm>
            <a:off x="4480560" y="6097089"/>
            <a:ext cx="3200400" cy="24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Class diagram</a:t>
            </a:r>
            <a:endParaRPr lang="en-US" sz="12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B3785CFE-F85F-1236-FCCB-DED0898D9F11}"/>
              </a:ext>
            </a:extLst>
          </p:cNvPr>
          <p:cNvSpPr/>
          <p:nvPr/>
        </p:nvSpPr>
        <p:spPr>
          <a:xfrm>
            <a:off x="777240" y="6363478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475569"/>
                </a:solidFill>
              </a:rPr>
              <a:t>The diagram connect UI behavior to contexts, services, localStorage, Express APIs, JWT checks, and SQLite persistence.</a:t>
            </a:r>
            <a:endParaRPr lang="en-US" sz="103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3A79A51E-A4C8-8848-8459-4F4D2C729BBF}"/>
              </a:ext>
            </a:extLst>
          </p:cNvPr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1A84A15-E997-0F20-1CF4-5FCCF9A8D6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4912" y="1242832"/>
            <a:ext cx="6424192" cy="485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418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Highlights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MAIN MODULES AND API COVERAGE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3258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325880"/>
            <a:ext cx="35204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527048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71717"/>
                </a:solidFill>
              </a:rPr>
              <a:t>Frontend Structure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859536" y="1856232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Pages for home, category, product, cart, checkout, login/register, and admin screens. Components include ProductCard, CartItem, QuantitySelector, OrderSummary, Layout, and Toast.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343400" y="13258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325880"/>
            <a:ext cx="35204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527048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71717"/>
                </a:solidFill>
              </a:rPr>
              <a:t>Backend Structure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4544568" y="1856232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Express app with routes/controllers for auth, categories, products, orders, admin dashboard, and newsletter. Middleware protects authenticated and admin-only actions.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028432" y="13258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8432" y="1325880"/>
            <a:ext cx="35204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527048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71717"/>
                </a:solidFill>
              </a:rPr>
              <a:t>State &amp; Storage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8229600" y="1856232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LanguageContext manages RTL/LTR; CartContext persists cart in localStorage; AuthContext stores JWT and user session information.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58368" y="379476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069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1717"/>
                </a:solidFill>
              </a:rPr>
              <a:t>Representative API endpoints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60120" y="4526280"/>
            <a:ext cx="2697480" cy="310896"/>
          </a:xfrm>
          <a:prstGeom prst="roundRect">
            <a:avLst>
              <a:gd name="adj" fmla="val 20588"/>
            </a:avLst>
          </a:prstGeom>
          <a:solidFill>
            <a:srgbClr val="F7F4E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" y="4608576"/>
            <a:ext cx="2478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1717"/>
                </a:solidFill>
              </a:rPr>
              <a:t>GET /api/categories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97680" y="4526280"/>
            <a:ext cx="2697480" cy="310896"/>
          </a:xfrm>
          <a:prstGeom prst="roundRect">
            <a:avLst>
              <a:gd name="adj" fmla="val 20588"/>
            </a:avLst>
          </a:prstGeom>
          <a:solidFill>
            <a:srgbClr val="F7F4E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4608576"/>
            <a:ext cx="2478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1717"/>
                </a:solidFill>
              </a:rPr>
              <a:t>GET /api/products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635240" y="4526280"/>
            <a:ext cx="2697480" cy="310896"/>
          </a:xfrm>
          <a:prstGeom prst="roundRect">
            <a:avLst>
              <a:gd name="adj" fmla="val 20588"/>
            </a:avLst>
          </a:prstGeom>
          <a:solidFill>
            <a:srgbClr val="F7F4E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44968" y="4608576"/>
            <a:ext cx="2478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1717"/>
                </a:solidFill>
              </a:rPr>
              <a:t>POST /api/auth/login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60120" y="4946904"/>
            <a:ext cx="2697480" cy="310896"/>
          </a:xfrm>
          <a:prstGeom prst="roundRect">
            <a:avLst>
              <a:gd name="adj" fmla="val 20588"/>
            </a:avLst>
          </a:prstGeom>
          <a:solidFill>
            <a:srgbClr val="F7F4E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9848" y="5029200"/>
            <a:ext cx="2478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1717"/>
                </a:solidFill>
              </a:rPr>
              <a:t>POST /api/orders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297680" y="4946904"/>
            <a:ext cx="2697480" cy="310896"/>
          </a:xfrm>
          <a:prstGeom prst="roundRect">
            <a:avLst>
              <a:gd name="adj" fmla="val 20588"/>
            </a:avLst>
          </a:prstGeom>
          <a:solidFill>
            <a:srgbClr val="F7F4E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7408" y="5029200"/>
            <a:ext cx="2478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1717"/>
                </a:solidFill>
              </a:rPr>
              <a:t>GET /api/orders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635240" y="4946904"/>
            <a:ext cx="2697480" cy="310896"/>
          </a:xfrm>
          <a:prstGeom prst="roundRect">
            <a:avLst>
              <a:gd name="adj" fmla="val 20588"/>
            </a:avLst>
          </a:prstGeom>
          <a:solidFill>
            <a:srgbClr val="F7F4E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44968" y="5029200"/>
            <a:ext cx="2478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1717"/>
                </a:solidFill>
              </a:rPr>
              <a:t>PUT /api/orders/:id/status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Assurance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MANUAL TESTING AND FINAL QA SPRINT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325880"/>
            <a:ext cx="16459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4356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20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6968" y="179222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4748B"/>
                </a:solidFill>
              </a:rPr>
              <a:t>manual test cases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2697480" y="1325880"/>
            <a:ext cx="16459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14356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07208" y="179222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4748B"/>
                </a:solidFill>
              </a:rPr>
              <a:t>bugs verified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4617720" y="1325880"/>
            <a:ext cx="16459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4356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100%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27448" y="179222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4748B"/>
                </a:solidFill>
              </a:rPr>
              <a:t>final pass status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77240" y="2606040"/>
            <a:ext cx="544068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27980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1717"/>
                </a:solidFill>
              </a:rPr>
              <a:t>Test Coverage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3273552"/>
            <a:ext cx="46177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• Home/categories/product browsing
• Cart operations and persistence
• Authentication and route protection
• Checkout and order submission
• Admin dashboard and order status updates
• Localization and fallback handling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1325880"/>
            <a:ext cx="4526280" cy="4160520"/>
          </a:xfrm>
          <a:prstGeom prst="roundRect">
            <a:avLst>
              <a:gd name="adj" fmla="val 2637"/>
            </a:avLst>
          </a:prstGeom>
          <a:solidFill>
            <a:srgbClr val="FFF7ED"/>
          </a:solidFill>
          <a:ln w="12700">
            <a:solidFill>
              <a:srgbClr val="FCD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1581912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1717"/>
                </a:solidFill>
              </a:rPr>
              <a:t>Sprint 5 Bugs Closed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76288" y="2148840"/>
            <a:ext cx="352044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• SCRUM-127: cart total update
• SCRUM-128: checkout validation clarity
• SCRUM-129: RTL/LTR consistency
• SCRUM-130: invalid route fallback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76288" y="3886200"/>
            <a:ext cx="39378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All final QA bugs were moved to Done and documented as resolved/verified.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D0FAF-288A-2093-1F8E-CB401282E764}"/>
              </a:ext>
            </a:extLst>
          </p:cNvPr>
          <p:cNvSpPr txBox="1"/>
          <p:nvPr/>
        </p:nvSpPr>
        <p:spPr>
          <a:xfrm>
            <a:off x="3048778" y="2551837"/>
            <a:ext cx="60975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We prepared a complete manual QA report including: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20 manual test cases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execution results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Jira bug tracking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requirements traceability matrix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and final QA verification. And show him the document</a:t>
            </a:r>
          </a:p>
        </p:txBody>
      </p:sp>
    </p:spTree>
    <p:extLst>
      <p:ext uri="{BB962C8B-B14F-4D97-AF65-F5344CB8AC3E}">
        <p14:creationId xmlns:p14="http://schemas.microsoft.com/office/powerpoint/2010/main" val="4239330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Agile Project Management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1"/>
            <a:ext cx="6766560" cy="225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JIRA SPRINT EVIDENCE AND VELOCITY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177409"/>
            <a:ext cx="5349240" cy="1999214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9426" y="3246745"/>
            <a:ext cx="4892040" cy="347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Sprint 1: setup, SRS, home, navigation, diagrams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3625118"/>
            <a:ext cx="5413248" cy="2070199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5750180"/>
            <a:ext cx="4892040" cy="20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Sprint 3: backend, SQLite models, auth, sample data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81928" y="1177409"/>
            <a:ext cx="5349240" cy="1999214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512986" y="3248908"/>
            <a:ext cx="4892040" cy="34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Sprint 5: final QA, bugs, documentation, evidence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217920" y="3625118"/>
            <a:ext cx="5413248" cy="2070199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446520" y="5750180"/>
            <a:ext cx="4892040" cy="20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Velocity report: iterative delivery across sprints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914400" y="6070221"/>
            <a:ext cx="10058400" cy="384048"/>
          </a:xfrm>
          <a:prstGeom prst="roundRect">
            <a:avLst>
              <a:gd name="adj" fmla="val 28571"/>
            </a:avLst>
          </a:prstGeom>
          <a:solidFill>
            <a:srgbClr val="0E0E0E"/>
          </a:solidFill>
          <a:ln w="12700">
            <a:solidFill>
              <a:srgbClr val="0E0E0E">
                <a:alpha val="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097280" y="6214472"/>
            <a:ext cx="9692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Jira evidence demonstrates backlog management, sprint planning, bug tracking, task ownership, and completion status.</a:t>
            </a:r>
            <a:endParaRPr lang="en-US" sz="830" dirty="0"/>
          </a:p>
        </p:txBody>
      </p:sp>
      <p:sp>
        <p:nvSpPr>
          <p:cNvPr id="23" name="Text 17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3E03834-70A6-B30A-03DF-A3D2464A5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17" y="1315994"/>
            <a:ext cx="5147964" cy="172204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D7E270F-8904-1414-F3B5-6A99984F5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17" y="3837199"/>
            <a:ext cx="5147964" cy="170480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FD59FA4-DC0C-E49D-6D83-6305A5634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296588"/>
            <a:ext cx="5087112" cy="174144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6F93ECD-D8CD-4A13-4FFA-2ED825D522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816409"/>
            <a:ext cx="5087112" cy="17255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Control &amp; Collaboration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1"/>
            <a:ext cx="6766560" cy="2440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GITHUB REPOSITORY AND JIRA-LINKED 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1" y="1380743"/>
            <a:ext cx="6159138" cy="3236977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30007" y="1380743"/>
            <a:ext cx="5253134" cy="1274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17553" y="1699699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</a:rPr>
              <a:t>Repository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17553" y="2065459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2563EB"/>
                </a:solidFill>
              </a:rPr>
              <a:t>github.com/BaraaMasri99/yallaMarket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7017553" y="2394643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46 commits • 11 branches • final source ZIP ready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6744145" y="2868392"/>
            <a:ext cx="5338998" cy="174932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35240" y="4377147"/>
            <a:ext cx="3520440" cy="206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Merged PRs linked with Jira issues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24204" y="5623560"/>
            <a:ext cx="10543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</a:rPr>
              <a:t>Collaboration message: Jira issues defined the work, GitHub branches/commits/PRs provided traceable implementation evidence.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45FA27E4-E621-4B7F-7B26-446EE55F3C83}"/>
              </a:ext>
            </a:extLst>
          </p:cNvPr>
          <p:cNvSpPr/>
          <p:nvPr/>
        </p:nvSpPr>
        <p:spPr>
          <a:xfrm>
            <a:off x="2263140" y="4377147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GitHub repo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AED326-7AA9-B76E-D70B-41BD0D966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008" y="3020605"/>
            <a:ext cx="5178490" cy="13306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A972E4-74EE-1D34-7ED7-59A1417A7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79" y="1715942"/>
            <a:ext cx="5887461" cy="263526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325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Submission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59536" y="21488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DEBC8"/>
                </a:solidFill>
              </a:rPr>
              <a:t>YallaMarket demonstrates a complete software engineering process: requirements, design, implementation, QA, Agile tracking, GitHub collaboration, and proof-of-work demo.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1288" y="3813048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Final Report PDF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3108960" y="379476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01568" y="3813048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QA Report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5349240" y="379476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41848" y="3813048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PPTX Presentation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868680" y="436168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" y="4379976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Video Demo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3108960" y="436168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4379976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GitHub URL + ZIP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349240" y="436168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41848" y="4379976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Jira Evidence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868680" y="5705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lang="en-US" sz="2400" b="1" dirty="0">
                <a:solidFill>
                  <a:srgbClr val="F59E0B"/>
                </a:solidFill>
              </a:rPr>
              <a:t>Thank You </a:t>
            </a:r>
            <a:r>
              <a:rPr lang="en-US" sz="2400" b="1" dirty="0" err="1">
                <a:solidFill>
                  <a:srgbClr val="F59E0B"/>
                </a:solidFill>
              </a:rPr>
              <a:t>Dr.Firas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68680" y="61081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</a:rPr>
              <a:t>Baraa Masri • Hamed Bizreh • Yahya </a:t>
            </a:r>
            <a:r>
              <a:rPr lang="en-US" sz="950" dirty="0" err="1">
                <a:solidFill>
                  <a:srgbClr val="E5E7EB"/>
                </a:solidFill>
              </a:rPr>
              <a:t>Zyoud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1376</Words>
  <Application>Microsoft Office PowerPoint</Application>
  <PresentationFormat>Widescreen</PresentationFormat>
  <Paragraphs>227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An-Najah National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YallaMarket — Professional Final Presentation</dc:title>
  <dc:subject>YallaMarket Final Software Engineering Presentation</dc:subject>
  <dc:creator>Baraa Masri</dc:creator>
  <cp:lastModifiedBy>baraa masri</cp:lastModifiedBy>
  <cp:revision>171</cp:revision>
  <dcterms:created xsi:type="dcterms:W3CDTF">2026-05-12T13:46:32Z</dcterms:created>
  <dcterms:modified xsi:type="dcterms:W3CDTF">2026-05-19T08:43:53Z</dcterms:modified>
</cp:coreProperties>
</file>