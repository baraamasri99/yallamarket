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946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045441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8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B"/>
          </a:solidFill>
          <a:ln w="12700">
            <a:solidFill>
              <a:srgbClr val="FFF8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543800" y="-1463040"/>
            <a:ext cx="6035040" cy="6035040"/>
          </a:xfrm>
          <a:prstGeom prst="arc">
            <a:avLst/>
          </a:prstGeom>
          <a:noFill/>
          <a:ln w="25400">
            <a:solidFill>
              <a:srgbClr val="FBC87A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05840" y="4343400"/>
            <a:ext cx="4023360" cy="4023360"/>
          </a:xfrm>
          <a:prstGeom prst="arc">
            <a:avLst/>
          </a:prstGeom>
          <a:noFill/>
          <a:ln w="22860">
            <a:solidFill>
              <a:srgbClr val="FED7AA">
                <a:alpha val="5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71323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400" b="1" dirty="0">
                <a:solidFill>
                  <a:srgbClr val="0E0E0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YallaMarket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49808" y="1417320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D97706"/>
                </a:solidFill>
              </a:rPr>
              <a:t>Full‑Stack Digital Marketplace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49808" y="181051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Software Engineering Final Presentation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49808" y="2359152"/>
            <a:ext cx="1764792" cy="292608"/>
          </a:xfrm>
          <a:prstGeom prst="roundRect">
            <a:avLst>
              <a:gd name="adj" fmla="val 25000"/>
            </a:avLst>
          </a:prstGeom>
          <a:solidFill>
            <a:srgbClr val="0E0E0E"/>
          </a:solidFill>
          <a:ln w="12700">
            <a:solidFill>
              <a:srgbClr val="0E0E0E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9536" y="2432304"/>
            <a:ext cx="15453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</a:rPr>
              <a:t>React + Vite + Tailwind</a:t>
            </a:r>
            <a:endParaRPr lang="en-US" sz="770" dirty="0"/>
          </a:p>
        </p:txBody>
      </p:sp>
      <p:sp>
        <p:nvSpPr>
          <p:cNvPr id="10" name="Shape 8"/>
          <p:cNvSpPr/>
          <p:nvPr/>
        </p:nvSpPr>
        <p:spPr>
          <a:xfrm>
            <a:off x="2670048" y="2359152"/>
            <a:ext cx="1572768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79776" y="2432304"/>
            <a:ext cx="135331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</a:rPr>
              <a:t>Express.js + SQLite</a:t>
            </a:r>
            <a:endParaRPr lang="en-US" sz="770" dirty="0"/>
          </a:p>
        </p:txBody>
      </p:sp>
      <p:sp>
        <p:nvSpPr>
          <p:cNvPr id="12" name="Shape 10"/>
          <p:cNvSpPr/>
          <p:nvPr/>
        </p:nvSpPr>
        <p:spPr>
          <a:xfrm>
            <a:off x="4407408" y="2359152"/>
            <a:ext cx="850392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17136" y="2432304"/>
            <a:ext cx="6309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</a:rPr>
              <a:t>JWT Auth</a:t>
            </a:r>
            <a:endParaRPr lang="en-US" sz="770" dirty="0"/>
          </a:p>
        </p:txBody>
      </p:sp>
      <p:sp>
        <p:nvSpPr>
          <p:cNvPr id="14" name="Text 12"/>
          <p:cNvSpPr/>
          <p:nvPr/>
        </p:nvSpPr>
        <p:spPr>
          <a:xfrm>
            <a:off x="749808" y="5413248"/>
            <a:ext cx="5760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171717"/>
                </a:solidFill>
              </a:rPr>
              <a:t>An‑Najah National University  •  Computer Science Apprenticeship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49808" y="5724144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</a:rPr>
              <a:t>Team: Baraa Masri, Hamed Bizreh, Yahya Ziyoud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49808" y="5998464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64748B"/>
                </a:solidFill>
              </a:rPr>
              <a:t>Instructor: Dr. Firas Shakaa  •  Second Semester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7635240" y="475488"/>
            <a:ext cx="3035808" cy="5623560"/>
          </a:xfrm>
          <a:prstGeom prst="roundRect">
            <a:avLst>
              <a:gd name="adj" fmla="val 3012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35240" y="475488"/>
            <a:ext cx="3035808" cy="274320"/>
          </a:xfrm>
          <a:prstGeom prst="rect">
            <a:avLst/>
          </a:prstGeom>
          <a:solidFill>
            <a:srgbClr val="F3F0EA"/>
          </a:solidFill>
          <a:ln w="12700">
            <a:solidFill>
              <a:srgbClr val="F3F0EA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44968" y="566928"/>
            <a:ext cx="73152" cy="7315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72984" y="566928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01000" y="566928"/>
            <a:ext cx="73152" cy="7315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pic>
        <p:nvPicPr>
          <p:cNvPr id="22" name="Image 0" descr="/mnt/data/image(598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2" y="841248"/>
            <a:ext cx="2889504" cy="5157216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7744968" y="6163056"/>
            <a:ext cx="28163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i="1" dirty="0">
                <a:solidFill>
                  <a:srgbClr val="64748B"/>
                </a:solidFill>
              </a:rPr>
              <a:t>Final storefront screenshot</a:t>
            </a:r>
            <a:endParaRPr lang="en-US" sz="720" dirty="0"/>
          </a:p>
        </p:txBody>
      </p:sp>
      <p:sp>
        <p:nvSpPr>
          <p:cNvPr id="24" name="Text 21"/>
          <p:cNvSpPr/>
          <p:nvPr/>
        </p:nvSpPr>
        <p:spPr>
          <a:xfrm>
            <a:off x="530352" y="656539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60" dirty="0">
                <a:solidFill>
                  <a:srgbClr val="9CA3AF"/>
                </a:solidFill>
              </a:rPr>
              <a:t>YallaMarket  •  Software Engineering Final Presentation</a:t>
            </a:r>
            <a:endParaRPr lang="en-US" sz="6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 w="12700">
            <a:solidFill>
              <a:srgbClr val="FBFAF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69680" y="-1051560"/>
            <a:ext cx="4297680" cy="4297680"/>
          </a:xfrm>
          <a:prstGeom prst="arc">
            <a:avLst/>
          </a:prstGeom>
          <a:noFill/>
          <a:ln w="20320">
            <a:solidFill>
              <a:srgbClr val="FCD9A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97280" y="4800600"/>
            <a:ext cx="2926080" cy="2926080"/>
          </a:xfrm>
          <a:prstGeom prst="arc">
            <a:avLst/>
          </a:prstGeom>
          <a:noFill/>
          <a:ln w="15240">
            <a:solidFill>
              <a:srgbClr val="FCD9A1">
                <a:alpha val="5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0175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1717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Snapshot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766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64748B"/>
                </a:solidFill>
              </a:rPr>
              <a:t>WHAT WE BUILT AND DELIVERED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283696" y="393192"/>
            <a:ext cx="3474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4748B"/>
                </a:solidFill>
              </a:rPr>
              <a:t>02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30352" y="969264"/>
            <a:ext cx="11100816" cy="0"/>
          </a:xfrm>
          <a:prstGeom prst="line">
            <a:avLst/>
          </a:prstGeom>
          <a:noFill/>
          <a:ln w="12700">
            <a:solidFill>
              <a:srgbClr val="E7E2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61872"/>
            <a:ext cx="5715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50" b="1" dirty="0">
                <a:solidFill>
                  <a:srgbClr val="171717"/>
                </a:solidFill>
              </a:rPr>
              <a:t>YallaMarket is a bilingual marketplace for digital products and online services, implemented as a complete full‑stack university Software Engineering project.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676656" y="2148840"/>
            <a:ext cx="534924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• Frontend: React, Vite, Tailwind CSS, React Router, Context API
• Backend: Express.js REST APIs with SQLite persistence
• Authentication: JWT-based login and protected admin endpoints
• Process evidence: SRS, UML/ERD, QA report, Jira sprints, GitHub collaboration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76656" y="3886200"/>
            <a:ext cx="1426464" cy="804672"/>
          </a:xfrm>
          <a:prstGeom prst="roundRect">
            <a:avLst>
              <a:gd name="adj" fmla="val 10227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6384" y="39959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9E0B"/>
                </a:solidFill>
              </a:rPr>
              <a:t>20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86384" y="4352544"/>
            <a:ext cx="1207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40" b="1" dirty="0">
                <a:solidFill>
                  <a:srgbClr val="64748B"/>
                </a:solidFill>
              </a:rPr>
              <a:t>manual test cases</a:t>
            </a:r>
            <a:endParaRPr lang="en-US" sz="740" dirty="0"/>
          </a:p>
        </p:txBody>
      </p:sp>
      <p:sp>
        <p:nvSpPr>
          <p:cNvPr id="14" name="Shape 12"/>
          <p:cNvSpPr/>
          <p:nvPr/>
        </p:nvSpPr>
        <p:spPr>
          <a:xfrm>
            <a:off x="2313432" y="3886200"/>
            <a:ext cx="1426464" cy="804672"/>
          </a:xfrm>
          <a:prstGeom prst="roundRect">
            <a:avLst>
              <a:gd name="adj" fmla="val 10227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23160" y="39959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A34A"/>
                </a:solidFill>
              </a:rPr>
              <a:t>5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423160" y="4352544"/>
            <a:ext cx="1207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40" b="1" dirty="0">
                <a:solidFill>
                  <a:srgbClr val="64748B"/>
                </a:solidFill>
              </a:rPr>
              <a:t>documented sprints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3950208" y="3886200"/>
            <a:ext cx="1426464" cy="804672"/>
          </a:xfrm>
          <a:prstGeom prst="roundRect">
            <a:avLst>
              <a:gd name="adj" fmla="val 10227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59936" y="39959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563EB"/>
                </a:solidFill>
              </a:rPr>
              <a:t>46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059936" y="4352544"/>
            <a:ext cx="1207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40" b="1" dirty="0">
                <a:solidFill>
                  <a:srgbClr val="64748B"/>
                </a:solidFill>
              </a:rPr>
              <a:t>commits shown</a:t>
            </a:r>
            <a:endParaRPr lang="en-US" sz="740" dirty="0"/>
          </a:p>
        </p:txBody>
      </p:sp>
      <p:sp>
        <p:nvSpPr>
          <p:cNvPr id="20" name="Shape 18"/>
          <p:cNvSpPr/>
          <p:nvPr/>
        </p:nvSpPr>
        <p:spPr>
          <a:xfrm>
            <a:off x="5586984" y="3886200"/>
            <a:ext cx="1426464" cy="804672"/>
          </a:xfrm>
          <a:prstGeom prst="roundRect">
            <a:avLst>
              <a:gd name="adj" fmla="val 10227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96712" y="39959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97706"/>
                </a:solidFill>
              </a:rPr>
              <a:t>11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696712" y="4352544"/>
            <a:ext cx="1207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40" b="1" dirty="0">
                <a:solidFill>
                  <a:srgbClr val="64748B"/>
                </a:solidFill>
              </a:rPr>
              <a:t>branches shown</a:t>
            </a:r>
            <a:endParaRPr lang="en-US" sz="740" dirty="0"/>
          </a:p>
        </p:txBody>
      </p:sp>
      <p:sp>
        <p:nvSpPr>
          <p:cNvPr id="23" name="Shape 21"/>
          <p:cNvSpPr/>
          <p:nvPr/>
        </p:nvSpPr>
        <p:spPr>
          <a:xfrm>
            <a:off x="7406640" y="1225296"/>
            <a:ext cx="3886200" cy="43891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06640" y="1225296"/>
            <a:ext cx="3886200" cy="274320"/>
          </a:xfrm>
          <a:prstGeom prst="rect">
            <a:avLst/>
          </a:prstGeom>
          <a:solidFill>
            <a:srgbClr val="F3F0EA"/>
          </a:solidFill>
          <a:ln w="12700">
            <a:solidFill>
              <a:srgbClr val="F3F0EA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516368" y="1316736"/>
            <a:ext cx="73152" cy="7315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44384" y="1316736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0" y="1316736"/>
            <a:ext cx="73152" cy="7315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pic>
        <p:nvPicPr>
          <p:cNvPr id="28" name="Image 0" descr="/mnt/data/image(599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9792" y="1591056"/>
            <a:ext cx="3739896" cy="3831336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7516368" y="5678424"/>
            <a:ext cx="36667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i="1" dirty="0">
                <a:solidFill>
                  <a:srgbClr val="64748B"/>
                </a:solidFill>
              </a:rPr>
              <a:t>Homepage and category entry points</a:t>
            </a:r>
            <a:endParaRPr lang="en-US" sz="720" dirty="0"/>
          </a:p>
        </p:txBody>
      </p:sp>
      <p:sp>
        <p:nvSpPr>
          <p:cNvPr id="30" name="Text 27"/>
          <p:cNvSpPr/>
          <p:nvPr/>
        </p:nvSpPr>
        <p:spPr>
          <a:xfrm>
            <a:off x="530352" y="656539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60" dirty="0">
                <a:solidFill>
                  <a:srgbClr val="9CA3AF"/>
                </a:solidFill>
              </a:rPr>
              <a:t>YallaMarket  •  Software Engineering Final Presentation</a:t>
            </a:r>
            <a:endParaRPr lang="en-US" sz="6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 w="12700">
            <a:solidFill>
              <a:srgbClr val="FBFAF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69680" y="-1051560"/>
            <a:ext cx="4297680" cy="4297680"/>
          </a:xfrm>
          <a:prstGeom prst="arc">
            <a:avLst/>
          </a:prstGeom>
          <a:noFill/>
          <a:ln w="20320">
            <a:solidFill>
              <a:srgbClr val="FCD9A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97280" y="4800600"/>
            <a:ext cx="2926080" cy="2926080"/>
          </a:xfrm>
          <a:prstGeom prst="arc">
            <a:avLst/>
          </a:prstGeom>
          <a:noFill/>
          <a:ln w="15240">
            <a:solidFill>
              <a:srgbClr val="FCD9A1">
                <a:alpha val="5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0175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1717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 &amp; Project Goals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766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64748B"/>
                </a:solidFill>
              </a:rPr>
              <a:t>WHY THE SYSTEM MATTERS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283696" y="393192"/>
            <a:ext cx="3474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4748B"/>
                </a:solidFill>
              </a:rPr>
              <a:t>03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30352" y="969264"/>
            <a:ext cx="11100816" cy="0"/>
          </a:xfrm>
          <a:prstGeom prst="line">
            <a:avLst/>
          </a:prstGeom>
          <a:noFill/>
          <a:ln w="12700">
            <a:solidFill>
              <a:srgbClr val="E7E2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25880"/>
            <a:ext cx="33832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325880"/>
            <a:ext cx="338328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152704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30" b="1" dirty="0">
                <a:solidFill>
                  <a:srgbClr val="171717"/>
                </a:solidFill>
              </a:rPr>
              <a:t>Problem</a:t>
            </a:r>
            <a:endParaRPr lang="en-US" sz="1230" dirty="0"/>
          </a:p>
        </p:txBody>
      </p:sp>
      <p:sp>
        <p:nvSpPr>
          <p:cNvPr id="12" name="Text 10"/>
          <p:cNvSpPr/>
          <p:nvPr/>
        </p:nvSpPr>
        <p:spPr>
          <a:xfrm>
            <a:off x="841248" y="1856232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75569"/>
                </a:solidFill>
              </a:rPr>
              <a:t>Users need a simple, bilingual, and responsive way to browse and order digital products such as cards, balances, subscriptions, and online services.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4389120" y="1325880"/>
            <a:ext cx="33832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0" y="1325880"/>
            <a:ext cx="3383280" cy="640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90288" y="152704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30" b="1" dirty="0">
                <a:solidFill>
                  <a:srgbClr val="171717"/>
                </a:solidFill>
              </a:rPr>
              <a:t>Solution</a:t>
            </a:r>
            <a:endParaRPr lang="en-US" sz="1230" dirty="0"/>
          </a:p>
        </p:txBody>
      </p:sp>
      <p:sp>
        <p:nvSpPr>
          <p:cNvPr id="16" name="Text 14"/>
          <p:cNvSpPr/>
          <p:nvPr/>
        </p:nvSpPr>
        <p:spPr>
          <a:xfrm>
            <a:off x="4590288" y="1856232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75569"/>
                </a:solidFill>
              </a:rPr>
              <a:t>YallaMarket provides a clean storefront, cart, checkout flow, authentication, and admin management supported by a real Express/SQLite backend.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8138160" y="1325880"/>
            <a:ext cx="33832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38160" y="1325880"/>
            <a:ext cx="3383280" cy="640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39328" y="152704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30" b="1" dirty="0">
                <a:solidFill>
                  <a:srgbClr val="171717"/>
                </a:solidFill>
              </a:rPr>
              <a:t>Academic Goal</a:t>
            </a:r>
            <a:endParaRPr lang="en-US" sz="1230" dirty="0"/>
          </a:p>
        </p:txBody>
      </p:sp>
      <p:sp>
        <p:nvSpPr>
          <p:cNvPr id="20" name="Text 18"/>
          <p:cNvSpPr/>
          <p:nvPr/>
        </p:nvSpPr>
        <p:spPr>
          <a:xfrm>
            <a:off x="8339328" y="1856232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75569"/>
                </a:solidFill>
              </a:rPr>
              <a:t>Demonstrate a full Software Engineering lifecycle: requirements, design, implementation, testing, Agile tracking, version control, and final proof of work.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749808" y="3840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71717"/>
                </a:solidFill>
              </a:rPr>
              <a:t>Final delivery focus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68096" y="4315968"/>
            <a:ext cx="5029200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</a:rPr>
              <a:t>• Polished implementation rather than major redesign
• Professional documentation and QA evidence
• Clear Jira + GitHub proof of collaboration
• Reliable video demo flow for the final presentation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3749040"/>
            <a:ext cx="4919472" cy="1737360"/>
          </a:xfrm>
          <a:prstGeom prst="roundRect">
            <a:avLst>
              <a:gd name="adj" fmla="val 6316"/>
            </a:avLst>
          </a:prstGeom>
          <a:solidFill>
            <a:srgbClr val="FFF7ED"/>
          </a:solidFill>
          <a:ln w="12700">
            <a:solidFill>
              <a:srgbClr val="FCD9A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93408" y="407822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</a:rPr>
              <a:t>Scope note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693408" y="4443984"/>
            <a:ext cx="4187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 dirty="0">
                <a:solidFill>
                  <a:srgbClr val="475569"/>
                </a:solidFill>
              </a:rPr>
              <a:t>The project supports payment method selection, but real payment gateway integration is documented as a future enhancement.</a:t>
            </a:r>
            <a:endParaRPr lang="en-US" sz="1120" dirty="0"/>
          </a:p>
        </p:txBody>
      </p:sp>
      <p:sp>
        <p:nvSpPr>
          <p:cNvPr id="26" name="Text 24"/>
          <p:cNvSpPr/>
          <p:nvPr/>
        </p:nvSpPr>
        <p:spPr>
          <a:xfrm>
            <a:off x="530352" y="656539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60" dirty="0">
                <a:solidFill>
                  <a:srgbClr val="9CA3AF"/>
                </a:solidFill>
              </a:rPr>
              <a:t>YallaMarket  •  Software Engineering Final Presentation</a:t>
            </a:r>
            <a:endParaRPr lang="en-US" sz="6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 w="12700">
            <a:solidFill>
              <a:srgbClr val="FBFAF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69680" y="-1051560"/>
            <a:ext cx="4297680" cy="4297680"/>
          </a:xfrm>
          <a:prstGeom prst="arc">
            <a:avLst/>
          </a:prstGeom>
          <a:noFill/>
          <a:ln w="20320">
            <a:solidFill>
              <a:srgbClr val="FCD9A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97280" y="4800600"/>
            <a:ext cx="2926080" cy="2926080"/>
          </a:xfrm>
          <a:prstGeom prst="arc">
            <a:avLst/>
          </a:prstGeom>
          <a:noFill/>
          <a:ln w="15240">
            <a:solidFill>
              <a:srgbClr val="FCD9A1">
                <a:alpha val="5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0175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1717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Requirements Coverage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766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64748B"/>
                </a:solidFill>
              </a:rPr>
              <a:t>FUNCTIONAL AND NON-FUNCTIONAL SCOPE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283696" y="393192"/>
            <a:ext cx="3474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4748B"/>
                </a:solidFill>
              </a:rPr>
              <a:t>04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30352" y="969264"/>
            <a:ext cx="11100816" cy="0"/>
          </a:xfrm>
          <a:prstGeom prst="line">
            <a:avLst/>
          </a:prstGeom>
          <a:noFill/>
          <a:ln w="12700">
            <a:solidFill>
              <a:srgbClr val="E7E2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298448"/>
            <a:ext cx="49834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0392" y="1453896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A34A"/>
                </a:solidFill>
              </a:rPr>
              <a:t>✓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1426464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b="1" dirty="0">
                <a:solidFill>
                  <a:srgbClr val="171717"/>
                </a:solidFill>
              </a:rPr>
              <a:t>Browse Categories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2743200" y="14173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475569"/>
                </a:solidFill>
              </a:rPr>
              <a:t>Homepage category entry points and navigation</a:t>
            </a:r>
            <a:endParaRPr lang="en-US" sz="790" dirty="0"/>
          </a:p>
        </p:txBody>
      </p:sp>
      <p:sp>
        <p:nvSpPr>
          <p:cNvPr id="13" name="Shape 11"/>
          <p:cNvSpPr/>
          <p:nvPr/>
        </p:nvSpPr>
        <p:spPr>
          <a:xfrm>
            <a:off x="6217920" y="1298448"/>
            <a:ext cx="49834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82512" y="1453896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A34A"/>
                </a:solidFill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766560" y="1426464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b="1" dirty="0">
                <a:solidFill>
                  <a:srgbClr val="171717"/>
                </a:solidFill>
              </a:rPr>
              <a:t>Product Catalog</a:t>
            </a:r>
            <a:endParaRPr lang="en-US" sz="1080" dirty="0"/>
          </a:p>
        </p:txBody>
      </p:sp>
      <p:sp>
        <p:nvSpPr>
          <p:cNvPr id="16" name="Text 14"/>
          <p:cNvSpPr/>
          <p:nvPr/>
        </p:nvSpPr>
        <p:spPr>
          <a:xfrm>
            <a:off x="8275320" y="14173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475569"/>
                </a:solidFill>
              </a:rPr>
              <a:t>Category products, search/filter, product details</a:t>
            </a:r>
            <a:endParaRPr lang="en-US" sz="790" dirty="0"/>
          </a:p>
        </p:txBody>
      </p:sp>
      <p:sp>
        <p:nvSpPr>
          <p:cNvPr id="17" name="Shape 15"/>
          <p:cNvSpPr/>
          <p:nvPr/>
        </p:nvSpPr>
        <p:spPr>
          <a:xfrm>
            <a:off x="685800" y="2258568"/>
            <a:ext cx="49834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0392" y="2414016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A34A"/>
                </a:solidFill>
              </a:rPr>
              <a:t>✓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34440" y="2386584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b="1" dirty="0">
                <a:solidFill>
                  <a:srgbClr val="171717"/>
                </a:solidFill>
              </a:rPr>
              <a:t>Cart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2743200" y="23774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475569"/>
                </a:solidFill>
              </a:rPr>
              <a:t>Add, update, remove, totals, localStorage persistence</a:t>
            </a:r>
            <a:endParaRPr lang="en-US" sz="790" dirty="0"/>
          </a:p>
        </p:txBody>
      </p:sp>
      <p:sp>
        <p:nvSpPr>
          <p:cNvPr id="21" name="Shape 19"/>
          <p:cNvSpPr/>
          <p:nvPr/>
        </p:nvSpPr>
        <p:spPr>
          <a:xfrm>
            <a:off x="6217920" y="2258568"/>
            <a:ext cx="49834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82512" y="2414016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A34A"/>
                </a:solidFill>
              </a:rPr>
              <a:t>✓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766560" y="2386584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b="1" dirty="0">
                <a:solidFill>
                  <a:srgbClr val="171717"/>
                </a:solidFill>
              </a:rPr>
              <a:t>Checkout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8275320" y="23774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475569"/>
                </a:solidFill>
              </a:rPr>
              <a:t>Customer information, delivery info, payment method, order submission</a:t>
            </a:r>
            <a:endParaRPr lang="en-US" sz="790" dirty="0"/>
          </a:p>
        </p:txBody>
      </p:sp>
      <p:sp>
        <p:nvSpPr>
          <p:cNvPr id="25" name="Shape 23"/>
          <p:cNvSpPr/>
          <p:nvPr/>
        </p:nvSpPr>
        <p:spPr>
          <a:xfrm>
            <a:off x="685800" y="3218688"/>
            <a:ext cx="49834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0392" y="3374136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A34A"/>
                </a:solidFill>
              </a:rPr>
              <a:t>✓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234440" y="3346704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b="1" dirty="0">
                <a:solidFill>
                  <a:srgbClr val="171717"/>
                </a:solidFill>
              </a:rPr>
              <a:t>Authentication</a:t>
            </a:r>
            <a:endParaRPr lang="en-US" sz="1080" dirty="0"/>
          </a:p>
        </p:txBody>
      </p:sp>
      <p:sp>
        <p:nvSpPr>
          <p:cNvPr id="28" name="Text 26"/>
          <p:cNvSpPr/>
          <p:nvPr/>
        </p:nvSpPr>
        <p:spPr>
          <a:xfrm>
            <a:off x="2743200" y="33375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475569"/>
                </a:solidFill>
              </a:rPr>
              <a:t>Register, login, logout, JWT-based protected APIs</a:t>
            </a:r>
            <a:endParaRPr lang="en-US" sz="790" dirty="0"/>
          </a:p>
        </p:txBody>
      </p:sp>
      <p:sp>
        <p:nvSpPr>
          <p:cNvPr id="29" name="Shape 27"/>
          <p:cNvSpPr/>
          <p:nvPr/>
        </p:nvSpPr>
        <p:spPr>
          <a:xfrm>
            <a:off x="6217920" y="3218688"/>
            <a:ext cx="49834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82512" y="3374136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A34A"/>
                </a:solidFill>
              </a:rPr>
              <a:t>✓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766560" y="3346704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b="1" dirty="0">
                <a:solidFill>
                  <a:srgbClr val="171717"/>
                </a:solidFill>
              </a:rPr>
              <a:t>Admin Dashboard</a:t>
            </a:r>
            <a:endParaRPr lang="en-US" sz="1080" dirty="0"/>
          </a:p>
        </p:txBody>
      </p:sp>
      <p:sp>
        <p:nvSpPr>
          <p:cNvPr id="32" name="Text 30"/>
          <p:cNvSpPr/>
          <p:nvPr/>
        </p:nvSpPr>
        <p:spPr>
          <a:xfrm>
            <a:off x="8275320" y="33375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475569"/>
                </a:solidFill>
              </a:rPr>
              <a:t>Products, categories, orders, and dashboard statistics</a:t>
            </a:r>
            <a:endParaRPr lang="en-US" sz="790" dirty="0"/>
          </a:p>
        </p:txBody>
      </p:sp>
      <p:sp>
        <p:nvSpPr>
          <p:cNvPr id="33" name="Shape 31"/>
          <p:cNvSpPr/>
          <p:nvPr/>
        </p:nvSpPr>
        <p:spPr>
          <a:xfrm>
            <a:off x="685800" y="4178808"/>
            <a:ext cx="49834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50392" y="4334256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A34A"/>
                </a:solidFill>
              </a:rPr>
              <a:t>✓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234440" y="4306824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b="1" dirty="0">
                <a:solidFill>
                  <a:srgbClr val="171717"/>
                </a:solidFill>
              </a:rPr>
              <a:t>Localization</a:t>
            </a:r>
            <a:endParaRPr lang="en-US" sz="1080" dirty="0"/>
          </a:p>
        </p:txBody>
      </p:sp>
      <p:sp>
        <p:nvSpPr>
          <p:cNvPr id="36" name="Text 34"/>
          <p:cNvSpPr/>
          <p:nvPr/>
        </p:nvSpPr>
        <p:spPr>
          <a:xfrm>
            <a:off x="2743200" y="42976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475569"/>
                </a:solidFill>
              </a:rPr>
              <a:t>Arabic/English language switch with RTL/LTR layout</a:t>
            </a:r>
            <a:endParaRPr lang="en-US" sz="790" dirty="0"/>
          </a:p>
        </p:txBody>
      </p:sp>
      <p:sp>
        <p:nvSpPr>
          <p:cNvPr id="37" name="Shape 35"/>
          <p:cNvSpPr/>
          <p:nvPr/>
        </p:nvSpPr>
        <p:spPr>
          <a:xfrm>
            <a:off x="6217920" y="4178808"/>
            <a:ext cx="49834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82512" y="4334256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A34A"/>
                </a:solidFill>
              </a:rPr>
              <a:t>✓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6766560" y="4306824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b="1" dirty="0">
                <a:solidFill>
                  <a:srgbClr val="171717"/>
                </a:solidFill>
              </a:rPr>
              <a:t>Quality</a:t>
            </a:r>
            <a:endParaRPr lang="en-US" sz="1080" dirty="0"/>
          </a:p>
        </p:txBody>
      </p:sp>
      <p:sp>
        <p:nvSpPr>
          <p:cNvPr id="40" name="Text 38"/>
          <p:cNvSpPr/>
          <p:nvPr/>
        </p:nvSpPr>
        <p:spPr>
          <a:xfrm>
            <a:off x="8275320" y="42976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475569"/>
                </a:solidFill>
              </a:rPr>
              <a:t>Manual QA report, Jira bug tracking, GitHub evidence</a:t>
            </a:r>
            <a:endParaRPr lang="en-US" sz="790" dirty="0"/>
          </a:p>
        </p:txBody>
      </p:sp>
      <p:sp>
        <p:nvSpPr>
          <p:cNvPr id="41" name="Shape 39"/>
          <p:cNvSpPr/>
          <p:nvPr/>
        </p:nvSpPr>
        <p:spPr>
          <a:xfrm>
            <a:off x="685800" y="5486400"/>
            <a:ext cx="10469880" cy="475488"/>
          </a:xfrm>
          <a:prstGeom prst="roundRect">
            <a:avLst>
              <a:gd name="adj" fmla="val 17308"/>
            </a:avLst>
          </a:prstGeom>
          <a:solidFill>
            <a:srgbClr val="FFF7ED"/>
          </a:solidFill>
          <a:ln w="12700">
            <a:solidFill>
              <a:srgbClr val="FCD9A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32688" y="5650992"/>
            <a:ext cx="13716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D97706"/>
                </a:solidFill>
              </a:rPr>
              <a:t>Coverage message: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2121408" y="5650992"/>
            <a:ext cx="79552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475569"/>
                </a:solidFill>
              </a:rPr>
              <a:t>The implemented system matches the SRS core scope and documents remaining limitations transparently.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530352" y="656539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60" dirty="0">
                <a:solidFill>
                  <a:srgbClr val="9CA3AF"/>
                </a:solidFill>
              </a:rPr>
              <a:t>YallaMarket  •  Software Engineering Final Presentation</a:t>
            </a:r>
            <a:endParaRPr lang="en-US" sz="6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 w="12700">
            <a:solidFill>
              <a:srgbClr val="FBFAF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69680" y="-1051560"/>
            <a:ext cx="4297680" cy="4297680"/>
          </a:xfrm>
          <a:prstGeom prst="arc">
            <a:avLst/>
          </a:prstGeom>
          <a:noFill/>
          <a:ln w="20320">
            <a:solidFill>
              <a:srgbClr val="FCD9A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97280" y="4800600"/>
            <a:ext cx="2926080" cy="2926080"/>
          </a:xfrm>
          <a:prstGeom prst="arc">
            <a:avLst/>
          </a:prstGeom>
          <a:noFill/>
          <a:ln w="15240">
            <a:solidFill>
              <a:srgbClr val="FCD9A1">
                <a:alpha val="5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0175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1717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System Architecture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766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64748B"/>
                </a:solidFill>
              </a:rPr>
              <a:t>THREE-LAYER FULL-STACK DESIGN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283696" y="393192"/>
            <a:ext cx="3474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4748B"/>
                </a:solidFill>
              </a:rPr>
              <a:t>05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30352" y="969264"/>
            <a:ext cx="11100816" cy="0"/>
          </a:xfrm>
          <a:prstGeom prst="line">
            <a:avLst/>
          </a:prstGeom>
          <a:noFill/>
          <a:ln w="12700">
            <a:solidFill>
              <a:srgbClr val="E7E2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1417320"/>
            <a:ext cx="5257800" cy="868680"/>
          </a:xfrm>
          <a:prstGeom prst="roundRect">
            <a:avLst>
              <a:gd name="adj" fmla="val 11579"/>
            </a:avLst>
          </a:prstGeom>
          <a:solidFill>
            <a:srgbClr val="FFF7ED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15636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71717"/>
                </a:solidFill>
              </a:rPr>
              <a:t>Presentation Layer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88920" y="157276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475569"/>
                </a:solidFill>
              </a:rPr>
              <a:t>React + Vite + Tailwind CSS + React Router</a:t>
            </a:r>
            <a:endParaRPr lang="en-US" sz="920" dirty="0"/>
          </a:p>
        </p:txBody>
      </p:sp>
      <p:sp>
        <p:nvSpPr>
          <p:cNvPr id="12" name="Text 10"/>
          <p:cNvSpPr/>
          <p:nvPr/>
        </p:nvSpPr>
        <p:spPr>
          <a:xfrm>
            <a:off x="1024128" y="190195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475569"/>
                </a:solidFill>
              </a:rPr>
              <a:t>UI rendering, routing, RTL/LTR, product browsing, cart, checkout</a:t>
            </a:r>
            <a:endParaRPr lang="en-US" sz="870" dirty="0"/>
          </a:p>
        </p:txBody>
      </p:sp>
      <p:sp>
        <p:nvSpPr>
          <p:cNvPr id="13" name="Shape 11"/>
          <p:cNvSpPr/>
          <p:nvPr/>
        </p:nvSpPr>
        <p:spPr>
          <a:xfrm>
            <a:off x="777240" y="2651760"/>
            <a:ext cx="5257800" cy="868680"/>
          </a:xfrm>
          <a:prstGeom prst="roundRect">
            <a:avLst>
              <a:gd name="adj" fmla="val 11579"/>
            </a:avLst>
          </a:prstGeom>
          <a:solidFill>
            <a:srgbClr val="ECFDF5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279806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71717"/>
                </a:solidFill>
              </a:rPr>
              <a:t>Application Layer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788920" y="280720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475569"/>
                </a:solidFill>
              </a:rPr>
              <a:t>Express.js + controllers + middleware</a:t>
            </a:r>
            <a:endParaRPr lang="en-US" sz="920" dirty="0"/>
          </a:p>
        </p:txBody>
      </p:sp>
      <p:sp>
        <p:nvSpPr>
          <p:cNvPr id="16" name="Text 14"/>
          <p:cNvSpPr/>
          <p:nvPr/>
        </p:nvSpPr>
        <p:spPr>
          <a:xfrm>
            <a:off x="1024128" y="3136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475569"/>
                </a:solidFill>
              </a:rPr>
              <a:t>REST APIs, validation, authentication, protected admin actions</a:t>
            </a:r>
            <a:endParaRPr lang="en-US" sz="870" dirty="0"/>
          </a:p>
        </p:txBody>
      </p:sp>
      <p:sp>
        <p:nvSpPr>
          <p:cNvPr id="17" name="Shape 15"/>
          <p:cNvSpPr/>
          <p:nvPr/>
        </p:nvSpPr>
        <p:spPr>
          <a:xfrm>
            <a:off x="777240" y="3886200"/>
            <a:ext cx="5257800" cy="868680"/>
          </a:xfrm>
          <a:prstGeom prst="roundRect">
            <a:avLst>
              <a:gd name="adj" fmla="val 11579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4128" y="403250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71717"/>
                </a:solidFill>
              </a:rPr>
              <a:t>Data Layer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788920" y="404164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475569"/>
                </a:solidFill>
              </a:rPr>
              <a:t>SQLite + relational tables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1024128" y="437083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475569"/>
                </a:solidFill>
              </a:rPr>
              <a:t>Persistent storage for users, products, categories, orders, order items</a:t>
            </a:r>
            <a:endParaRPr lang="en-US" sz="870" dirty="0"/>
          </a:p>
        </p:txBody>
      </p:sp>
      <p:sp>
        <p:nvSpPr>
          <p:cNvPr id="21" name="Shape 19"/>
          <p:cNvSpPr/>
          <p:nvPr/>
        </p:nvSpPr>
        <p:spPr>
          <a:xfrm>
            <a:off x="6629400" y="1325880"/>
            <a:ext cx="4343400" cy="3621024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31152" y="164592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71717"/>
                </a:solidFill>
              </a:rPr>
              <a:t>Key Architecture Decisions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949440" y="2148840"/>
            <a:ext cx="3520440" cy="1371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• Reusable components and service modules
• Centralized cart/auth/language contexts
• Server-side order total and stock validation
• Admin endpoints protected by JWT and role checks
• Cart remains client-side until checkout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30352" y="656539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60" dirty="0">
                <a:solidFill>
                  <a:srgbClr val="9CA3AF"/>
                </a:solidFill>
              </a:rPr>
              <a:t>YallaMarket  •  Software Engineering Final Presentation</a:t>
            </a:r>
            <a:endParaRPr lang="en-US" sz="6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 w="12700">
            <a:solidFill>
              <a:srgbClr val="FBFAF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69680" y="-1051560"/>
            <a:ext cx="4297680" cy="4297680"/>
          </a:xfrm>
          <a:prstGeom prst="arc">
            <a:avLst/>
          </a:prstGeom>
          <a:noFill/>
          <a:ln w="20320">
            <a:solidFill>
              <a:srgbClr val="FCD9A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97280" y="4800600"/>
            <a:ext cx="2926080" cy="2926080"/>
          </a:xfrm>
          <a:prstGeom prst="arc">
            <a:avLst/>
          </a:prstGeom>
          <a:noFill/>
          <a:ln w="15240">
            <a:solidFill>
              <a:srgbClr val="FCD9A1">
                <a:alpha val="5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0175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1717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Storefront Experience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766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64748B"/>
                </a:solidFill>
              </a:rPr>
              <a:t>HOMEPAGE, CATEGORIES, AND PRODUCT BROWSING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283696" y="393192"/>
            <a:ext cx="3474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4748B"/>
                </a:solidFill>
              </a:rPr>
              <a:t>06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30352" y="969264"/>
            <a:ext cx="11100816" cy="0"/>
          </a:xfrm>
          <a:prstGeom prst="line">
            <a:avLst/>
          </a:prstGeom>
          <a:noFill/>
          <a:ln w="12700">
            <a:solidFill>
              <a:srgbClr val="E7E2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225296"/>
            <a:ext cx="5120640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225296"/>
            <a:ext cx="5120640" cy="274320"/>
          </a:xfrm>
          <a:prstGeom prst="rect">
            <a:avLst/>
          </a:prstGeom>
          <a:solidFill>
            <a:srgbClr val="F3F0EA"/>
          </a:solidFill>
          <a:ln w="12700">
            <a:solidFill>
              <a:srgbClr val="F3F0EA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9808" y="1316736"/>
            <a:ext cx="73152" cy="7315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7824" y="1316736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05840" y="1316736"/>
            <a:ext cx="73152" cy="7315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pic>
        <p:nvPicPr>
          <p:cNvPr id="14" name="Image 0" descr="/mnt/data/image(599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1563624"/>
            <a:ext cx="4434840" cy="41148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49808" y="5815584"/>
            <a:ext cx="4901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i="1" dirty="0">
                <a:solidFill>
                  <a:srgbClr val="64748B"/>
                </a:solidFill>
              </a:rPr>
              <a:t>Homepage / Categories</a:t>
            </a:r>
            <a:endParaRPr lang="en-US" sz="720" dirty="0"/>
          </a:p>
        </p:txBody>
      </p:sp>
      <p:sp>
        <p:nvSpPr>
          <p:cNvPr id="16" name="Shape 13"/>
          <p:cNvSpPr/>
          <p:nvPr/>
        </p:nvSpPr>
        <p:spPr>
          <a:xfrm>
            <a:off x="6355080" y="1225296"/>
            <a:ext cx="5120640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55080" y="1225296"/>
            <a:ext cx="5120640" cy="274320"/>
          </a:xfrm>
          <a:prstGeom prst="rect">
            <a:avLst/>
          </a:prstGeom>
          <a:solidFill>
            <a:srgbClr val="F3F0EA"/>
          </a:solidFill>
          <a:ln w="12700">
            <a:solidFill>
              <a:srgbClr val="F3F0EA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64808" y="1316736"/>
            <a:ext cx="73152" cy="7315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92824" y="1316736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720840" y="1316736"/>
            <a:ext cx="73152" cy="7315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pic>
        <p:nvPicPr>
          <p:cNvPr id="21" name="Image 1" descr="/mnt/data/image(600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824" y="1563624"/>
            <a:ext cx="4690872" cy="411480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6464808" y="5815584"/>
            <a:ext cx="4901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i="1" dirty="0">
                <a:solidFill>
                  <a:srgbClr val="64748B"/>
                </a:solidFill>
              </a:rPr>
              <a:t>Category page / Product grid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822960" y="5897880"/>
            <a:ext cx="10058400" cy="347472"/>
          </a:xfrm>
          <a:prstGeom prst="roundRect">
            <a:avLst>
              <a:gd name="adj" fmla="val 31579"/>
            </a:avLst>
          </a:prstGeom>
          <a:solidFill>
            <a:srgbClr val="0E0E0E"/>
          </a:solidFill>
          <a:ln w="12700">
            <a:solidFill>
              <a:srgbClr val="0E0E0E">
                <a:alpha val="0"/>
              </a:srgbClr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051560" y="6016752"/>
            <a:ext cx="96012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30" b="1" dirty="0">
                <a:solidFill>
                  <a:srgbClr val="FFFFFF"/>
                </a:solidFill>
              </a:rPr>
              <a:t>Demo points: search within categories, browse products, view prices/stock, and add available items to the cart.</a:t>
            </a:r>
            <a:endParaRPr lang="en-US" sz="830" dirty="0"/>
          </a:p>
        </p:txBody>
      </p:sp>
      <p:sp>
        <p:nvSpPr>
          <p:cNvPr id="25" name="Text 21"/>
          <p:cNvSpPr/>
          <p:nvPr/>
        </p:nvSpPr>
        <p:spPr>
          <a:xfrm>
            <a:off x="530352" y="656539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60" dirty="0">
                <a:solidFill>
                  <a:srgbClr val="9CA3AF"/>
                </a:solidFill>
              </a:rPr>
              <a:t>YallaMarket  •  Software Engineering Final Presentation</a:t>
            </a:r>
            <a:endParaRPr lang="en-US" sz="6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 w="12700">
            <a:solidFill>
              <a:srgbClr val="FBFAF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69680" y="-1051560"/>
            <a:ext cx="4297680" cy="4297680"/>
          </a:xfrm>
          <a:prstGeom prst="arc">
            <a:avLst/>
          </a:prstGeom>
          <a:noFill/>
          <a:ln w="20320">
            <a:solidFill>
              <a:srgbClr val="FCD9A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97280" y="4800600"/>
            <a:ext cx="2926080" cy="2926080"/>
          </a:xfrm>
          <a:prstGeom prst="arc">
            <a:avLst/>
          </a:prstGeom>
          <a:noFill/>
          <a:ln w="15240">
            <a:solidFill>
              <a:srgbClr val="FCD9A1">
                <a:alpha val="5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0175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1717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Cart &amp; Checkout Flow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766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64748B"/>
                </a:solidFill>
              </a:rPr>
              <a:t>FROM SELECTED ITEMS TO SUBMITTED ORDER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283696" y="393192"/>
            <a:ext cx="3474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4748B"/>
                </a:solidFill>
              </a:rPr>
              <a:t>07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30352" y="969264"/>
            <a:ext cx="11100816" cy="0"/>
          </a:xfrm>
          <a:prstGeom prst="line">
            <a:avLst/>
          </a:prstGeom>
          <a:noFill/>
          <a:ln w="12700">
            <a:solidFill>
              <a:srgbClr val="E7E2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1234440"/>
            <a:ext cx="4800600" cy="4370832"/>
          </a:xfrm>
          <a:prstGeom prst="roundRect">
            <a:avLst>
              <a:gd name="adj" fmla="val 2092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1234440"/>
            <a:ext cx="4800600" cy="274320"/>
          </a:xfrm>
          <a:prstGeom prst="rect">
            <a:avLst/>
          </a:prstGeom>
          <a:solidFill>
            <a:srgbClr val="F3F0EA"/>
          </a:solidFill>
          <a:ln w="12700">
            <a:solidFill>
              <a:srgbClr val="F3F0EA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325880"/>
            <a:ext cx="73152" cy="7315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0976" y="1325880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8992" y="1325880"/>
            <a:ext cx="73152" cy="7315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pic>
        <p:nvPicPr>
          <p:cNvPr id="14" name="Image 0" descr="/mnt/data/image(601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" y="1572768"/>
            <a:ext cx="3959352" cy="3959352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822960" y="5669280"/>
            <a:ext cx="45811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i="1" dirty="0">
                <a:solidFill>
                  <a:srgbClr val="64748B"/>
                </a:solidFill>
              </a:rPr>
              <a:t>Cart with quantity controls and order summary</a:t>
            </a:r>
            <a:endParaRPr lang="en-US" sz="720" dirty="0"/>
          </a:p>
        </p:txBody>
      </p:sp>
      <p:sp>
        <p:nvSpPr>
          <p:cNvPr id="16" name="Shape 13"/>
          <p:cNvSpPr/>
          <p:nvPr/>
        </p:nvSpPr>
        <p:spPr>
          <a:xfrm>
            <a:off x="6172200" y="1234440"/>
            <a:ext cx="4983480" cy="4370832"/>
          </a:xfrm>
          <a:prstGeom prst="roundRect">
            <a:avLst>
              <a:gd name="adj" fmla="val 2092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72200" y="1234440"/>
            <a:ext cx="4983480" cy="274320"/>
          </a:xfrm>
          <a:prstGeom prst="rect">
            <a:avLst/>
          </a:prstGeom>
          <a:solidFill>
            <a:srgbClr val="F3F0EA"/>
          </a:solidFill>
          <a:ln w="12700">
            <a:solidFill>
              <a:srgbClr val="F3F0EA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281928" y="1325880"/>
            <a:ext cx="73152" cy="7315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09944" y="1325880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537960" y="1325880"/>
            <a:ext cx="73152" cy="7315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pic>
        <p:nvPicPr>
          <p:cNvPr id="21" name="Image 1" descr="/mnt/data/image(602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1572768"/>
            <a:ext cx="3959352" cy="3959352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6281928" y="5669280"/>
            <a:ext cx="47640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i="1" dirty="0">
                <a:solidFill>
                  <a:srgbClr val="64748B"/>
                </a:solidFill>
              </a:rPr>
              <a:t>Checkout form with customer/delivery/payment information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1005840" y="589788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475569"/>
                </a:solidFill>
              </a:rPr>
              <a:t>Cart persists in localStorage and is transformed into server-side order records after checkout submission.</a:t>
            </a:r>
            <a:endParaRPr lang="en-US" sz="1120" dirty="0"/>
          </a:p>
        </p:txBody>
      </p:sp>
      <p:sp>
        <p:nvSpPr>
          <p:cNvPr id="24" name="Text 20"/>
          <p:cNvSpPr/>
          <p:nvPr/>
        </p:nvSpPr>
        <p:spPr>
          <a:xfrm>
            <a:off x="530352" y="656539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60" dirty="0">
                <a:solidFill>
                  <a:srgbClr val="9CA3AF"/>
                </a:solidFill>
              </a:rPr>
              <a:t>YallaMarket  •  Software Engineering Final Presentation</a:t>
            </a:r>
            <a:endParaRPr lang="en-US" sz="6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 w="12700">
            <a:solidFill>
              <a:srgbClr val="FBFAF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69680" y="-1051560"/>
            <a:ext cx="4297680" cy="4297680"/>
          </a:xfrm>
          <a:prstGeom prst="arc">
            <a:avLst/>
          </a:prstGeom>
          <a:noFill/>
          <a:ln w="20320">
            <a:solidFill>
              <a:srgbClr val="FCD9A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97280" y="4800600"/>
            <a:ext cx="2926080" cy="2926080"/>
          </a:xfrm>
          <a:prstGeom prst="arc">
            <a:avLst/>
          </a:prstGeom>
          <a:noFill/>
          <a:ln w="15240">
            <a:solidFill>
              <a:srgbClr val="FCD9A1">
                <a:alpha val="5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0175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1717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System Design Models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766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64748B"/>
                </a:solidFill>
              </a:rPr>
              <a:t>USE CASE AND CLASS DIAGRAMS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283696" y="393192"/>
            <a:ext cx="3474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4748B"/>
                </a:solidFill>
              </a:rPr>
              <a:t>08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30352" y="969264"/>
            <a:ext cx="11100816" cy="0"/>
          </a:xfrm>
          <a:prstGeom prst="line">
            <a:avLst/>
          </a:prstGeom>
          <a:noFill/>
          <a:ln w="12700">
            <a:solidFill>
              <a:srgbClr val="E7E2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234440"/>
            <a:ext cx="5486400" cy="4434840"/>
          </a:xfrm>
          <a:prstGeom prst="roundRect">
            <a:avLst>
              <a:gd name="adj" fmla="val 2062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pic>
        <p:nvPicPr>
          <p:cNvPr id="10" name="Image 0" descr="/mnt/data/YallaMarket_UseCase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4460" y="1417320"/>
            <a:ext cx="3977640" cy="39776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22960" y="5504688"/>
            <a:ext cx="5120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80" i="1" dirty="0">
                <a:solidFill>
                  <a:srgbClr val="64748B"/>
                </a:solidFill>
              </a:rPr>
              <a:t>Use Case Diagram</a:t>
            </a:r>
            <a:endParaRPr lang="en-US" sz="780" dirty="0"/>
          </a:p>
        </p:txBody>
      </p:sp>
      <p:sp>
        <p:nvSpPr>
          <p:cNvPr id="12" name="Shape 9"/>
          <p:cNvSpPr/>
          <p:nvPr/>
        </p:nvSpPr>
        <p:spPr>
          <a:xfrm>
            <a:off x="6355080" y="1234440"/>
            <a:ext cx="5166360" cy="4434840"/>
          </a:xfrm>
          <a:prstGeom prst="roundRect">
            <a:avLst>
              <a:gd name="adj" fmla="val 2062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pic>
        <p:nvPicPr>
          <p:cNvPr id="13" name="Image 1" descr="/mnt/data/YallaMarket_Class_Diagram.drawio(2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417320"/>
            <a:ext cx="3977640" cy="39776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537960" y="5504688"/>
            <a:ext cx="4800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80" i="1" dirty="0">
                <a:solidFill>
                  <a:srgbClr val="64748B"/>
                </a:solidFill>
              </a:rPr>
              <a:t>Class Diagram</a:t>
            </a:r>
            <a:endParaRPr lang="en-US" sz="780" dirty="0"/>
          </a:p>
        </p:txBody>
      </p:sp>
      <p:sp>
        <p:nvSpPr>
          <p:cNvPr id="15" name="Text 11"/>
          <p:cNvSpPr/>
          <p:nvPr/>
        </p:nvSpPr>
        <p:spPr>
          <a:xfrm>
            <a:off x="530352" y="656539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60" dirty="0">
                <a:solidFill>
                  <a:srgbClr val="9CA3AF"/>
                </a:solidFill>
              </a:rPr>
              <a:t>YallaMarket  •  Software Engineering Final Presentation</a:t>
            </a:r>
            <a:endParaRPr lang="en-US" sz="6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 w="12700">
            <a:solidFill>
              <a:srgbClr val="FBFAF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69680" y="-1051560"/>
            <a:ext cx="4297680" cy="4297680"/>
          </a:xfrm>
          <a:prstGeom prst="arc">
            <a:avLst/>
          </a:prstGeom>
          <a:noFill/>
          <a:ln w="20320">
            <a:solidFill>
              <a:srgbClr val="FCD9A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97280" y="4800600"/>
            <a:ext cx="2926080" cy="2926080"/>
          </a:xfrm>
          <a:prstGeom prst="arc">
            <a:avLst/>
          </a:prstGeom>
          <a:noFill/>
          <a:ln w="15240">
            <a:solidFill>
              <a:srgbClr val="FCD9A1">
                <a:alpha val="5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0175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1717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Database Design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766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64748B"/>
                </a:solidFill>
              </a:rPr>
              <a:t>ERD AND PERSISTENCE STRATEGY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283696" y="393192"/>
            <a:ext cx="3474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4748B"/>
                </a:solidFill>
              </a:rPr>
              <a:t>09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30352" y="969264"/>
            <a:ext cx="11100816" cy="0"/>
          </a:xfrm>
          <a:prstGeom prst="line">
            <a:avLst/>
          </a:prstGeom>
          <a:noFill/>
          <a:ln w="12700">
            <a:solidFill>
              <a:srgbClr val="E7E2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207008"/>
            <a:ext cx="699516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pic>
        <p:nvPicPr>
          <p:cNvPr id="10" name="Image 0" descr="/mnt/data/YallaMarket_ERD_Diagram.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229" y="1417320"/>
            <a:ext cx="5038529" cy="416052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909560" y="1371600"/>
            <a:ext cx="3520440" cy="3977640"/>
          </a:xfrm>
          <a:prstGeom prst="roundRect">
            <a:avLst>
              <a:gd name="adj" fmla="val 3117"/>
            </a:avLst>
          </a:prstGeom>
          <a:solidFill>
            <a:srgbClr val="FFF7ED"/>
          </a:solidFill>
          <a:ln w="12700">
            <a:solidFill>
              <a:srgbClr val="FCD9A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83880" y="1691640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71717"/>
                </a:solidFill>
              </a:rPr>
              <a:t>Core Entities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8183880" y="2157984"/>
            <a:ext cx="278892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475569"/>
                </a:solidFill>
              </a:rPr>
              <a:t>• users: account, password hash, role
• categories/products: catalog structure
• orders/order_items: checkout persistence
• cart: client-side only, persisted in localStorage</a:t>
            </a:r>
            <a:endParaRPr lang="en-US" sz="920" dirty="0"/>
          </a:p>
        </p:txBody>
      </p:sp>
      <p:sp>
        <p:nvSpPr>
          <p:cNvPr id="14" name="Text 11"/>
          <p:cNvSpPr/>
          <p:nvPr/>
        </p:nvSpPr>
        <p:spPr>
          <a:xfrm>
            <a:off x="8183880" y="3986784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D97706"/>
                </a:solidFill>
              </a:rPr>
              <a:t>Design note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183880" y="4315968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</a:rPr>
              <a:t>SQLite was selected to keep the backend lightweight, portable, and suitable for academic demonstration.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30352" y="656539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60" dirty="0">
                <a:solidFill>
                  <a:srgbClr val="9CA3AF"/>
                </a:solidFill>
              </a:rPr>
              <a:t>YallaMarket  •  Software Engineering Final Presentation</a:t>
            </a:r>
            <a:endParaRPr lang="en-US" sz="6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 w="12700">
            <a:solidFill>
              <a:srgbClr val="FBFAF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69680" y="-1051560"/>
            <a:ext cx="4297680" cy="4297680"/>
          </a:xfrm>
          <a:prstGeom prst="arc">
            <a:avLst/>
          </a:prstGeom>
          <a:noFill/>
          <a:ln w="20320">
            <a:solidFill>
              <a:srgbClr val="FCD9A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97280" y="4800600"/>
            <a:ext cx="2926080" cy="2926080"/>
          </a:xfrm>
          <a:prstGeom prst="arc">
            <a:avLst/>
          </a:prstGeom>
          <a:noFill/>
          <a:ln w="15240">
            <a:solidFill>
              <a:srgbClr val="FCD9A1">
                <a:alpha val="5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0175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1717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Behavioral Design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766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64748B"/>
                </a:solidFill>
              </a:rPr>
              <a:t>SEQUENCE DIAGRAMS FOR CRITICAL FLOWS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283696" y="393192"/>
            <a:ext cx="3474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4748B"/>
                </a:solidFill>
              </a:rPr>
              <a:t>10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30352" y="969264"/>
            <a:ext cx="11100816" cy="0"/>
          </a:xfrm>
          <a:prstGeom prst="line">
            <a:avLst/>
          </a:prstGeom>
          <a:noFill/>
          <a:ln w="12700">
            <a:solidFill>
              <a:srgbClr val="E7E2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243584"/>
            <a:ext cx="3566160" cy="4370832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pic>
        <p:nvPicPr>
          <p:cNvPr id="10" name="Image 0" descr="/mnt/data/YallaMarket_Checkout_Flow_Sequenc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805940"/>
            <a:ext cx="320040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77240" y="5532120"/>
            <a:ext cx="3200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80" i="1" dirty="0">
                <a:solidFill>
                  <a:srgbClr val="64748B"/>
                </a:solidFill>
              </a:rPr>
              <a:t>Checkout Flow</a:t>
            </a:r>
            <a:endParaRPr lang="en-US" sz="780" dirty="0"/>
          </a:p>
        </p:txBody>
      </p:sp>
      <p:sp>
        <p:nvSpPr>
          <p:cNvPr id="12" name="Shape 9"/>
          <p:cNvSpPr/>
          <p:nvPr/>
        </p:nvSpPr>
        <p:spPr>
          <a:xfrm>
            <a:off x="4343400" y="1243584"/>
            <a:ext cx="3566160" cy="4370832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pic>
        <p:nvPicPr>
          <p:cNvPr id="13" name="Image 1" descr="/mnt/data/YallaMarket_Login_Logout_Flow_Sequence_Diagram(1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1805940"/>
            <a:ext cx="3200400" cy="32004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26280" y="5532120"/>
            <a:ext cx="3200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80" i="1" dirty="0">
                <a:solidFill>
                  <a:srgbClr val="64748B"/>
                </a:solidFill>
              </a:rPr>
              <a:t>Login / Logout Flow</a:t>
            </a:r>
            <a:endParaRPr lang="en-US" sz="780" dirty="0"/>
          </a:p>
        </p:txBody>
      </p:sp>
      <p:sp>
        <p:nvSpPr>
          <p:cNvPr id="15" name="Shape 11"/>
          <p:cNvSpPr/>
          <p:nvPr/>
        </p:nvSpPr>
        <p:spPr>
          <a:xfrm>
            <a:off x="8092440" y="1243584"/>
            <a:ext cx="3566160" cy="4370832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pic>
        <p:nvPicPr>
          <p:cNvPr id="16" name="Image 2" descr="/mnt/data/YallaMarket_Language_Switch_Sequence_Diagr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0" y="1805940"/>
            <a:ext cx="3200400" cy="32004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75320" y="5532120"/>
            <a:ext cx="3200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80" i="1" dirty="0">
                <a:solidFill>
                  <a:srgbClr val="64748B"/>
                </a:solidFill>
              </a:rPr>
              <a:t>Language Switch Flow</a:t>
            </a:r>
            <a:endParaRPr lang="en-US" sz="780" dirty="0"/>
          </a:p>
        </p:txBody>
      </p:sp>
      <p:sp>
        <p:nvSpPr>
          <p:cNvPr id="18" name="Text 13"/>
          <p:cNvSpPr/>
          <p:nvPr/>
        </p:nvSpPr>
        <p:spPr>
          <a:xfrm>
            <a:off x="777240" y="5989320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b="1" dirty="0">
                <a:solidFill>
                  <a:srgbClr val="475569"/>
                </a:solidFill>
              </a:rPr>
              <a:t>The diagrams connect UI behavior to contexts, services, localStorage, Express APIs, JWT checks, and SQLite persistence.</a:t>
            </a:r>
            <a:endParaRPr lang="en-US" sz="1030" dirty="0"/>
          </a:p>
        </p:txBody>
      </p:sp>
      <p:sp>
        <p:nvSpPr>
          <p:cNvPr id="19" name="Text 14"/>
          <p:cNvSpPr/>
          <p:nvPr/>
        </p:nvSpPr>
        <p:spPr>
          <a:xfrm>
            <a:off x="530352" y="656539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60" dirty="0">
                <a:solidFill>
                  <a:srgbClr val="9CA3AF"/>
                </a:solidFill>
              </a:rPr>
              <a:t>YallaMarket  •  Software Engineering Final Presentation</a:t>
            </a:r>
            <a:endParaRPr lang="en-US" sz="6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 w="12700">
            <a:solidFill>
              <a:srgbClr val="FBFAF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69680" y="-1051560"/>
            <a:ext cx="4297680" cy="4297680"/>
          </a:xfrm>
          <a:prstGeom prst="arc">
            <a:avLst/>
          </a:prstGeom>
          <a:noFill/>
          <a:ln w="20320">
            <a:solidFill>
              <a:srgbClr val="FCD9A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97280" y="4800600"/>
            <a:ext cx="2926080" cy="2926080"/>
          </a:xfrm>
          <a:prstGeom prst="arc">
            <a:avLst/>
          </a:prstGeom>
          <a:noFill/>
          <a:ln w="15240">
            <a:solidFill>
              <a:srgbClr val="FCD9A1">
                <a:alpha val="5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0175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1717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Implementation Highlights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766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64748B"/>
                </a:solidFill>
              </a:rPr>
              <a:t>MAIN MODULES AND API COVERAGE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283696" y="393192"/>
            <a:ext cx="3474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4748B"/>
                </a:solidFill>
              </a:rPr>
              <a:t>11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30352" y="969264"/>
            <a:ext cx="11100816" cy="0"/>
          </a:xfrm>
          <a:prstGeom prst="line">
            <a:avLst/>
          </a:prstGeom>
          <a:noFill/>
          <a:ln w="12700">
            <a:solidFill>
              <a:srgbClr val="E7E2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1325880"/>
            <a:ext cx="35204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325880"/>
            <a:ext cx="352044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527048"/>
            <a:ext cx="3118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30" b="1" dirty="0">
                <a:solidFill>
                  <a:srgbClr val="171717"/>
                </a:solidFill>
              </a:rPr>
              <a:t>Frontend Structure</a:t>
            </a:r>
            <a:endParaRPr lang="en-US" sz="1230" dirty="0"/>
          </a:p>
        </p:txBody>
      </p:sp>
      <p:sp>
        <p:nvSpPr>
          <p:cNvPr id="12" name="Text 10"/>
          <p:cNvSpPr/>
          <p:nvPr/>
        </p:nvSpPr>
        <p:spPr>
          <a:xfrm>
            <a:off x="859536" y="1856232"/>
            <a:ext cx="3118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75569"/>
                </a:solidFill>
              </a:rPr>
              <a:t>Pages for home, category, product, cart, checkout, login/register, and admin screens. Components include ProductCard, CartItem, QuantitySelector, OrderSummary, Layout, and Toast.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4343400" y="1325880"/>
            <a:ext cx="35204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3400" y="1325880"/>
            <a:ext cx="3520440" cy="640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4568" y="1527048"/>
            <a:ext cx="3118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30" b="1" dirty="0">
                <a:solidFill>
                  <a:srgbClr val="171717"/>
                </a:solidFill>
              </a:rPr>
              <a:t>Backend Structure</a:t>
            </a:r>
            <a:endParaRPr lang="en-US" sz="1230" dirty="0"/>
          </a:p>
        </p:txBody>
      </p:sp>
      <p:sp>
        <p:nvSpPr>
          <p:cNvPr id="16" name="Text 14"/>
          <p:cNvSpPr/>
          <p:nvPr/>
        </p:nvSpPr>
        <p:spPr>
          <a:xfrm>
            <a:off x="4544568" y="1856232"/>
            <a:ext cx="3118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75569"/>
                </a:solidFill>
              </a:rPr>
              <a:t>Express app with routes/controllers for auth, categories, products, orders, admin dashboard, and newsletter. Middleware protects authenticated and admin-only actions.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8028432" y="1325880"/>
            <a:ext cx="35204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28432" y="1325880"/>
            <a:ext cx="3520440" cy="640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0" y="1527048"/>
            <a:ext cx="3118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30" b="1" dirty="0">
                <a:solidFill>
                  <a:srgbClr val="171717"/>
                </a:solidFill>
              </a:rPr>
              <a:t>State &amp; Storage</a:t>
            </a:r>
            <a:endParaRPr lang="en-US" sz="1230" dirty="0"/>
          </a:p>
        </p:txBody>
      </p:sp>
      <p:sp>
        <p:nvSpPr>
          <p:cNvPr id="20" name="Text 18"/>
          <p:cNvSpPr/>
          <p:nvPr/>
        </p:nvSpPr>
        <p:spPr>
          <a:xfrm>
            <a:off x="8229600" y="1856232"/>
            <a:ext cx="3118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75569"/>
                </a:solidFill>
              </a:rPr>
              <a:t>LanguageContext manages RTL/LTR; CartContext persists cart in localStorage; AuthContext stores JWT and user session information.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658368" y="3794760"/>
            <a:ext cx="108813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0120" y="406908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1717"/>
                </a:solidFill>
              </a:rPr>
              <a:t>Representative API endpoints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960120" y="4526280"/>
            <a:ext cx="2697480" cy="310896"/>
          </a:xfrm>
          <a:prstGeom prst="roundRect">
            <a:avLst>
              <a:gd name="adj" fmla="val 20588"/>
            </a:avLst>
          </a:prstGeom>
          <a:solidFill>
            <a:srgbClr val="F7F4EF"/>
          </a:solidFill>
          <a:ln w="12700">
            <a:solidFill>
              <a:srgbClr val="E7E2D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9848" y="4608576"/>
            <a:ext cx="247802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71717"/>
                </a:solidFill>
              </a:rPr>
              <a:t>GET /api/categories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4297680" y="4526280"/>
            <a:ext cx="2697480" cy="310896"/>
          </a:xfrm>
          <a:prstGeom prst="roundRect">
            <a:avLst>
              <a:gd name="adj" fmla="val 20588"/>
            </a:avLst>
          </a:prstGeom>
          <a:solidFill>
            <a:srgbClr val="F7F4EF"/>
          </a:solidFill>
          <a:ln w="12700">
            <a:solidFill>
              <a:srgbClr val="E7E2D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07408" y="4608576"/>
            <a:ext cx="247802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71717"/>
                </a:solidFill>
              </a:rPr>
              <a:t>GET /api/products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7635240" y="4526280"/>
            <a:ext cx="2697480" cy="310896"/>
          </a:xfrm>
          <a:prstGeom prst="roundRect">
            <a:avLst>
              <a:gd name="adj" fmla="val 20588"/>
            </a:avLst>
          </a:prstGeom>
          <a:solidFill>
            <a:srgbClr val="F7F4EF"/>
          </a:solidFill>
          <a:ln w="12700">
            <a:solidFill>
              <a:srgbClr val="E7E2D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44968" y="4608576"/>
            <a:ext cx="247802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71717"/>
                </a:solidFill>
              </a:rPr>
              <a:t>POST /api/auth/login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960120" y="4946904"/>
            <a:ext cx="2697480" cy="310896"/>
          </a:xfrm>
          <a:prstGeom prst="roundRect">
            <a:avLst>
              <a:gd name="adj" fmla="val 20588"/>
            </a:avLst>
          </a:prstGeom>
          <a:solidFill>
            <a:srgbClr val="F7F4EF"/>
          </a:solidFill>
          <a:ln w="12700">
            <a:solidFill>
              <a:srgbClr val="E7E2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69848" y="5029200"/>
            <a:ext cx="247802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71717"/>
                </a:solidFill>
              </a:rPr>
              <a:t>POST /api/orders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97680" y="4946904"/>
            <a:ext cx="2697480" cy="310896"/>
          </a:xfrm>
          <a:prstGeom prst="roundRect">
            <a:avLst>
              <a:gd name="adj" fmla="val 20588"/>
            </a:avLst>
          </a:prstGeom>
          <a:solidFill>
            <a:srgbClr val="F7F4EF"/>
          </a:solidFill>
          <a:ln w="12700">
            <a:solidFill>
              <a:srgbClr val="E7E2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07408" y="5029200"/>
            <a:ext cx="247802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71717"/>
                </a:solidFill>
              </a:rPr>
              <a:t>GET /api/orders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7635240" y="4946904"/>
            <a:ext cx="2697480" cy="310896"/>
          </a:xfrm>
          <a:prstGeom prst="roundRect">
            <a:avLst>
              <a:gd name="adj" fmla="val 20588"/>
            </a:avLst>
          </a:prstGeom>
          <a:solidFill>
            <a:srgbClr val="F7F4EF"/>
          </a:solidFill>
          <a:ln w="12700">
            <a:solidFill>
              <a:srgbClr val="E7E2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44968" y="5029200"/>
            <a:ext cx="247802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71717"/>
                </a:solidFill>
              </a:rPr>
              <a:t>PUT /api/orders/:id/status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530352" y="656539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60" dirty="0">
                <a:solidFill>
                  <a:srgbClr val="9CA3AF"/>
                </a:solidFill>
              </a:rPr>
              <a:t>YallaMarket  •  Software Engineering Final Presentation</a:t>
            </a:r>
            <a:endParaRPr lang="en-US" sz="66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 w="12700">
            <a:solidFill>
              <a:srgbClr val="FBFAF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69680" y="-1051560"/>
            <a:ext cx="4297680" cy="4297680"/>
          </a:xfrm>
          <a:prstGeom prst="arc">
            <a:avLst/>
          </a:prstGeom>
          <a:noFill/>
          <a:ln w="20320">
            <a:solidFill>
              <a:srgbClr val="FCD9A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97280" y="4800600"/>
            <a:ext cx="2926080" cy="2926080"/>
          </a:xfrm>
          <a:prstGeom prst="arc">
            <a:avLst/>
          </a:prstGeom>
          <a:noFill/>
          <a:ln w="15240">
            <a:solidFill>
              <a:srgbClr val="FCD9A1">
                <a:alpha val="5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0175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1717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Quality Assurance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766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64748B"/>
                </a:solidFill>
              </a:rPr>
              <a:t>MANUAL TESTING AND FINAL QA SPRINT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283696" y="393192"/>
            <a:ext cx="3474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4748B"/>
                </a:solidFill>
              </a:rPr>
              <a:t>12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30352" y="969264"/>
            <a:ext cx="11100816" cy="0"/>
          </a:xfrm>
          <a:prstGeom prst="line">
            <a:avLst/>
          </a:prstGeom>
          <a:noFill/>
          <a:ln w="12700">
            <a:solidFill>
              <a:srgbClr val="E7E2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1325880"/>
            <a:ext cx="1645920" cy="804672"/>
          </a:xfrm>
          <a:prstGeom prst="roundRect">
            <a:avLst>
              <a:gd name="adj" fmla="val 10227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435608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9E0B"/>
                </a:solidFill>
              </a:rPr>
              <a:t>20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86968" y="1792224"/>
            <a:ext cx="1426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40" b="1" dirty="0">
                <a:solidFill>
                  <a:srgbClr val="64748B"/>
                </a:solidFill>
              </a:rPr>
              <a:t>manual test cases</a:t>
            </a:r>
            <a:endParaRPr lang="en-US" sz="740" dirty="0"/>
          </a:p>
        </p:txBody>
      </p:sp>
      <p:sp>
        <p:nvSpPr>
          <p:cNvPr id="12" name="Shape 10"/>
          <p:cNvSpPr/>
          <p:nvPr/>
        </p:nvSpPr>
        <p:spPr>
          <a:xfrm>
            <a:off x="2697480" y="1325880"/>
            <a:ext cx="1645920" cy="804672"/>
          </a:xfrm>
          <a:prstGeom prst="roundRect">
            <a:avLst>
              <a:gd name="adj" fmla="val 10227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07208" y="1435608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A34A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807208" y="1792224"/>
            <a:ext cx="1426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40" b="1" dirty="0">
                <a:solidFill>
                  <a:srgbClr val="64748B"/>
                </a:solidFill>
              </a:rPr>
              <a:t>bugs verified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4617720" y="1325880"/>
            <a:ext cx="1645920" cy="804672"/>
          </a:xfrm>
          <a:prstGeom prst="roundRect">
            <a:avLst>
              <a:gd name="adj" fmla="val 10227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27448" y="1435608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563EB"/>
                </a:solidFill>
              </a:rPr>
              <a:t>100%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727448" y="1792224"/>
            <a:ext cx="1426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40" b="1" dirty="0">
                <a:solidFill>
                  <a:srgbClr val="64748B"/>
                </a:solidFill>
              </a:rPr>
              <a:t>final pass status</a:t>
            </a:r>
            <a:endParaRPr lang="en-US" sz="740" dirty="0"/>
          </a:p>
        </p:txBody>
      </p:sp>
      <p:sp>
        <p:nvSpPr>
          <p:cNvPr id="18" name="Shape 16"/>
          <p:cNvSpPr/>
          <p:nvPr/>
        </p:nvSpPr>
        <p:spPr>
          <a:xfrm>
            <a:off x="777240" y="2606040"/>
            <a:ext cx="5440680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288036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1717"/>
                </a:solidFill>
              </a:rPr>
              <a:t>Test Coverage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51560" y="3273552"/>
            <a:ext cx="461772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475569"/>
                </a:solidFill>
              </a:rPr>
              <a:t>• Home/categories/product browsing
• Cart operations and persistence
• Authentication and route protection
• Checkout and order submission
• Admin dashboard and order status updates
• Localization and fallback handling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6583680" y="1325880"/>
            <a:ext cx="4526280" cy="4160520"/>
          </a:xfrm>
          <a:prstGeom prst="roundRect">
            <a:avLst>
              <a:gd name="adj" fmla="val 2637"/>
            </a:avLst>
          </a:prstGeom>
          <a:solidFill>
            <a:srgbClr val="FFF7ED"/>
          </a:solidFill>
          <a:ln w="12700">
            <a:solidFill>
              <a:srgbClr val="FCD9A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76288" y="166420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1717"/>
                </a:solidFill>
              </a:rPr>
              <a:t>Sprint 5 Bugs Closed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76288" y="2148840"/>
            <a:ext cx="3520440" cy="10241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</a:rPr>
              <a:t>• SCRUM-127: cart total update
• SCRUM-128: checkout validation clarity
• SCRUM-129: RTL/LTR consistency
• SCRUM-130: invalid route fallback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76288" y="38862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16A34A"/>
                </a:solidFill>
              </a:rPr>
              <a:t>All final QA bugs were moved to Done and documented as resolved/verified.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30352" y="656539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60" dirty="0">
                <a:solidFill>
                  <a:srgbClr val="9CA3AF"/>
                </a:solidFill>
              </a:rPr>
              <a:t>YallaMarket  •  Software Engineering Final Presentation</a:t>
            </a:r>
            <a:endParaRPr lang="en-US" sz="66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 w="12700">
            <a:solidFill>
              <a:srgbClr val="FBFAF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69680" y="-1051560"/>
            <a:ext cx="4297680" cy="4297680"/>
          </a:xfrm>
          <a:prstGeom prst="arc">
            <a:avLst/>
          </a:prstGeom>
          <a:noFill/>
          <a:ln w="20320">
            <a:solidFill>
              <a:srgbClr val="FCD9A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97280" y="4800600"/>
            <a:ext cx="2926080" cy="2926080"/>
          </a:xfrm>
          <a:prstGeom prst="arc">
            <a:avLst/>
          </a:prstGeom>
          <a:noFill/>
          <a:ln w="15240">
            <a:solidFill>
              <a:srgbClr val="FCD9A1">
                <a:alpha val="5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0175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1717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Agile Project Management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766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64748B"/>
                </a:solidFill>
              </a:rPr>
              <a:t>JIRA SPRINT EVIDENCE AND VELOCITY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283696" y="393192"/>
            <a:ext cx="3474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4748B"/>
                </a:solidFill>
              </a:rPr>
              <a:t>13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30352" y="969264"/>
            <a:ext cx="11100816" cy="0"/>
          </a:xfrm>
          <a:prstGeom prst="line">
            <a:avLst/>
          </a:prstGeom>
          <a:noFill/>
          <a:ln w="12700">
            <a:solidFill>
              <a:srgbClr val="E7E2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143000"/>
            <a:ext cx="53492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pic>
        <p:nvPicPr>
          <p:cNvPr id="10" name="Image 0" descr="/mnt/data/image(589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298448"/>
            <a:ext cx="4496105" cy="129844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22960" y="2834640"/>
            <a:ext cx="4892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i="1" dirty="0">
                <a:solidFill>
                  <a:srgbClr val="64748B"/>
                </a:solidFill>
              </a:rPr>
              <a:t>Sprint 1: setup, SRS, home, navigation, diagrams</a:t>
            </a:r>
            <a:endParaRPr lang="en-US" sz="720" dirty="0"/>
          </a:p>
        </p:txBody>
      </p:sp>
      <p:sp>
        <p:nvSpPr>
          <p:cNvPr id="12" name="Shape 9"/>
          <p:cNvSpPr/>
          <p:nvPr/>
        </p:nvSpPr>
        <p:spPr>
          <a:xfrm>
            <a:off x="594360" y="3063240"/>
            <a:ext cx="53492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pic>
        <p:nvPicPr>
          <p:cNvPr id="13" name="Image 1" descr="/mnt/data/image(591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1" y="3218688"/>
            <a:ext cx="4496104" cy="12984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22960" y="4754880"/>
            <a:ext cx="4892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i="1" dirty="0">
                <a:solidFill>
                  <a:srgbClr val="64748B"/>
                </a:solidFill>
              </a:rPr>
              <a:t>Sprint 3: backend, SQLite models, auth, sample data</a:t>
            </a:r>
            <a:endParaRPr lang="en-US" sz="720" dirty="0"/>
          </a:p>
        </p:txBody>
      </p:sp>
      <p:sp>
        <p:nvSpPr>
          <p:cNvPr id="15" name="Shape 11"/>
          <p:cNvSpPr/>
          <p:nvPr/>
        </p:nvSpPr>
        <p:spPr>
          <a:xfrm>
            <a:off x="6217920" y="1143000"/>
            <a:ext cx="53492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446520" y="2834640"/>
            <a:ext cx="4892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i="1" dirty="0">
                <a:solidFill>
                  <a:srgbClr val="64748B"/>
                </a:solidFill>
              </a:rPr>
              <a:t>Sprint 5: final QA, bugs, documentation, evidence</a:t>
            </a:r>
            <a:endParaRPr lang="en-US" sz="720" dirty="0"/>
          </a:p>
        </p:txBody>
      </p:sp>
      <p:sp>
        <p:nvSpPr>
          <p:cNvPr id="18" name="Shape 13"/>
          <p:cNvSpPr/>
          <p:nvPr/>
        </p:nvSpPr>
        <p:spPr>
          <a:xfrm>
            <a:off x="6217920" y="3063240"/>
            <a:ext cx="53492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6446520" y="4754880"/>
            <a:ext cx="4892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i="1" dirty="0">
                <a:solidFill>
                  <a:srgbClr val="64748B"/>
                </a:solidFill>
              </a:rPr>
              <a:t>Velocity report: iterative delivery across sprints</a:t>
            </a:r>
            <a:endParaRPr lang="en-US" sz="720" dirty="0"/>
          </a:p>
        </p:txBody>
      </p:sp>
      <p:sp>
        <p:nvSpPr>
          <p:cNvPr id="21" name="Shape 15"/>
          <p:cNvSpPr/>
          <p:nvPr/>
        </p:nvSpPr>
        <p:spPr>
          <a:xfrm>
            <a:off x="914400" y="5486400"/>
            <a:ext cx="10058400" cy="384048"/>
          </a:xfrm>
          <a:prstGeom prst="roundRect">
            <a:avLst>
              <a:gd name="adj" fmla="val 28571"/>
            </a:avLst>
          </a:prstGeom>
          <a:solidFill>
            <a:srgbClr val="0E0E0E"/>
          </a:solidFill>
          <a:ln w="12700">
            <a:solidFill>
              <a:srgbClr val="0E0E0E">
                <a:alpha val="0"/>
              </a:srgbClr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1097280" y="5605272"/>
            <a:ext cx="969264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30" b="1" dirty="0">
                <a:solidFill>
                  <a:srgbClr val="FFFFFF"/>
                </a:solidFill>
              </a:rPr>
              <a:t>Jira evidence demonstrates backlog management, sprint planning, bug tracking, task ownership, and completion status.</a:t>
            </a:r>
            <a:endParaRPr lang="en-US" sz="830" dirty="0"/>
          </a:p>
        </p:txBody>
      </p:sp>
      <p:sp>
        <p:nvSpPr>
          <p:cNvPr id="23" name="Text 17"/>
          <p:cNvSpPr/>
          <p:nvPr/>
        </p:nvSpPr>
        <p:spPr>
          <a:xfrm>
            <a:off x="530352" y="656539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60" dirty="0">
                <a:solidFill>
                  <a:srgbClr val="9CA3AF"/>
                </a:solidFill>
              </a:rPr>
              <a:t>YallaMarket  •  Software Engineering Final Presentation</a:t>
            </a:r>
            <a:endParaRPr lang="en-US" sz="66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8DEEF9B7-55EB-FEF5-59B7-BB1A6FDD4F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5280" y="1293431"/>
            <a:ext cx="4358639" cy="1278371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CDE10E4E-9FF3-6A93-350C-4D8B854F1C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5280" y="3222437"/>
            <a:ext cx="4358639" cy="129770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 w="12700">
            <a:solidFill>
              <a:srgbClr val="FBFAF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69680" y="-1051560"/>
            <a:ext cx="4297680" cy="4297680"/>
          </a:xfrm>
          <a:prstGeom prst="arc">
            <a:avLst/>
          </a:prstGeom>
          <a:noFill/>
          <a:ln w="20320">
            <a:solidFill>
              <a:srgbClr val="FCD9A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97280" y="4800600"/>
            <a:ext cx="2926080" cy="2926080"/>
          </a:xfrm>
          <a:prstGeom prst="arc">
            <a:avLst/>
          </a:prstGeom>
          <a:noFill/>
          <a:ln w="15240">
            <a:solidFill>
              <a:srgbClr val="FCD9A1">
                <a:alpha val="5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0175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1717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Version Control &amp; Collaboration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766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64748B"/>
                </a:solidFill>
              </a:rPr>
              <a:t>GITHUB REPOSITORY AND JIRA-LINKED WORK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283696" y="393192"/>
            <a:ext cx="3474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4748B"/>
                </a:solidFill>
              </a:rPr>
              <a:t>14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30352" y="969264"/>
            <a:ext cx="11100816" cy="0"/>
          </a:xfrm>
          <a:prstGeom prst="line">
            <a:avLst/>
          </a:prstGeom>
          <a:noFill/>
          <a:ln w="12700">
            <a:solidFill>
              <a:srgbClr val="E7E2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1234440"/>
            <a:ext cx="6492240" cy="4069080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52360" y="1234440"/>
            <a:ext cx="38862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26680" y="15361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1717"/>
                </a:solidFill>
              </a:rPr>
              <a:t>Repository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7726680" y="1901952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2563EB"/>
                </a:solidFill>
              </a:rPr>
              <a:t>github.com/BaraaMasri99/yallaMarket</a:t>
            </a:r>
            <a:endParaRPr lang="en-US" sz="980" dirty="0"/>
          </a:p>
        </p:txBody>
      </p:sp>
      <p:sp>
        <p:nvSpPr>
          <p:cNvPr id="14" name="Text 11"/>
          <p:cNvSpPr/>
          <p:nvPr/>
        </p:nvSpPr>
        <p:spPr>
          <a:xfrm>
            <a:off x="7726680" y="2231136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64748B"/>
                </a:solidFill>
              </a:rPr>
              <a:t>46 commits • 11 branches • final source ZIP ready</a:t>
            </a:r>
            <a:endParaRPr lang="en-US" sz="780" dirty="0"/>
          </a:p>
        </p:txBody>
      </p:sp>
      <p:sp>
        <p:nvSpPr>
          <p:cNvPr id="15" name="Shape 12"/>
          <p:cNvSpPr/>
          <p:nvPr/>
        </p:nvSpPr>
        <p:spPr>
          <a:xfrm>
            <a:off x="7452360" y="3017520"/>
            <a:ext cx="3886200" cy="1664208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635240" y="4535424"/>
            <a:ext cx="3520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i="1" dirty="0">
                <a:solidFill>
                  <a:srgbClr val="64748B"/>
                </a:solidFill>
              </a:rPr>
              <a:t>Merged PRs linked with Jira issues</a:t>
            </a:r>
            <a:endParaRPr lang="en-US" sz="730" dirty="0"/>
          </a:p>
        </p:txBody>
      </p:sp>
      <p:sp>
        <p:nvSpPr>
          <p:cNvPr id="18" name="Text 14"/>
          <p:cNvSpPr/>
          <p:nvPr/>
        </p:nvSpPr>
        <p:spPr>
          <a:xfrm>
            <a:off x="914400" y="5824728"/>
            <a:ext cx="10149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475569"/>
                </a:solidFill>
              </a:rPr>
              <a:t>Collaboration message: Jira issues defined the work, GitHub branches/commits/PRs provided traceable implementation evidence.</a:t>
            </a:r>
            <a:endParaRPr lang="en-US" sz="1080" dirty="0"/>
          </a:p>
        </p:txBody>
      </p:sp>
      <p:sp>
        <p:nvSpPr>
          <p:cNvPr id="19" name="Text 15"/>
          <p:cNvSpPr/>
          <p:nvPr/>
        </p:nvSpPr>
        <p:spPr>
          <a:xfrm>
            <a:off x="530352" y="656539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60" dirty="0">
                <a:solidFill>
                  <a:srgbClr val="9CA3AF"/>
                </a:solidFill>
              </a:rPr>
              <a:t>YallaMarket  •  Software Engineering Final Presentation</a:t>
            </a:r>
            <a:endParaRPr lang="en-US" sz="66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B38F7F1-B701-95B5-3391-7F50F47DCF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" y="1584960"/>
            <a:ext cx="6141720" cy="3264408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5D6552B9-90D0-E8D7-9CDD-895A816EB2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6659" y="3394876"/>
            <a:ext cx="3657601" cy="82050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 w="12700">
            <a:solidFill>
              <a:srgbClr val="FBFAF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69680" y="-1051560"/>
            <a:ext cx="4297680" cy="4297680"/>
          </a:xfrm>
          <a:prstGeom prst="arc">
            <a:avLst/>
          </a:prstGeom>
          <a:noFill/>
          <a:ln w="20320">
            <a:solidFill>
              <a:srgbClr val="FCD9A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97280" y="4800600"/>
            <a:ext cx="2926080" cy="2926080"/>
          </a:xfrm>
          <a:prstGeom prst="arc">
            <a:avLst/>
          </a:prstGeom>
          <a:noFill/>
          <a:ln w="15240">
            <a:solidFill>
              <a:srgbClr val="FCD9A1">
                <a:alpha val="5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0175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1717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Final Demo Plan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766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64748B"/>
                </a:solidFill>
              </a:rPr>
              <a:t>RECOMMENDED SPEAKING AND RECORDING FLOW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283696" y="393192"/>
            <a:ext cx="3474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4748B"/>
                </a:solidFill>
              </a:rPr>
              <a:t>15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30352" y="969264"/>
            <a:ext cx="11100816" cy="0"/>
          </a:xfrm>
          <a:prstGeom prst="line">
            <a:avLst/>
          </a:prstGeom>
          <a:noFill/>
          <a:ln w="12700">
            <a:solidFill>
              <a:srgbClr val="E7E2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1234440"/>
            <a:ext cx="5394960" cy="347472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0976" y="1316736"/>
            <a:ext cx="2286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F59E0B"/>
                </a:solidFill>
              </a:rPr>
              <a:t>1</a:t>
            </a:r>
            <a:endParaRPr lang="en-US" sz="780" dirty="0"/>
          </a:p>
        </p:txBody>
      </p:sp>
      <p:sp>
        <p:nvSpPr>
          <p:cNvPr id="11" name="Text 9"/>
          <p:cNvSpPr/>
          <p:nvPr/>
        </p:nvSpPr>
        <p:spPr>
          <a:xfrm>
            <a:off x="1325880" y="1307592"/>
            <a:ext cx="4480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475569"/>
                </a:solidFill>
              </a:rPr>
              <a:t>Project introduction and problem statement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77240" y="1737360"/>
            <a:ext cx="5394960" cy="347472"/>
          </a:xfrm>
          <a:prstGeom prst="roundRect">
            <a:avLst>
              <a:gd name="adj" fmla="val 18421"/>
            </a:avLst>
          </a:prstGeom>
          <a:solidFill>
            <a:srgbClr val="FFF7ED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0976" y="1819656"/>
            <a:ext cx="2286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F59E0B"/>
                </a:solidFill>
              </a:rPr>
              <a:t>2</a:t>
            </a:r>
            <a:endParaRPr lang="en-US" sz="780" dirty="0"/>
          </a:p>
        </p:txBody>
      </p:sp>
      <p:sp>
        <p:nvSpPr>
          <p:cNvPr id="14" name="Text 12"/>
          <p:cNvSpPr/>
          <p:nvPr/>
        </p:nvSpPr>
        <p:spPr>
          <a:xfrm>
            <a:off x="1325880" y="1810512"/>
            <a:ext cx="4480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475569"/>
                </a:solidFill>
              </a:rPr>
              <a:t>SRS scope and stakeholder overview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77240" y="2240280"/>
            <a:ext cx="5394960" cy="347472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0976" y="2322576"/>
            <a:ext cx="2286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F59E0B"/>
                </a:solidFill>
              </a:rPr>
              <a:t>3</a:t>
            </a:r>
            <a:endParaRPr lang="en-US" sz="780" dirty="0"/>
          </a:p>
        </p:txBody>
      </p:sp>
      <p:sp>
        <p:nvSpPr>
          <p:cNvPr id="17" name="Text 15"/>
          <p:cNvSpPr/>
          <p:nvPr/>
        </p:nvSpPr>
        <p:spPr>
          <a:xfrm>
            <a:off x="1325880" y="2313432"/>
            <a:ext cx="4480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475569"/>
                </a:solidFill>
              </a:rPr>
              <a:t>Architecture + ERD + UML design models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77240" y="2743200"/>
            <a:ext cx="5394960" cy="347472"/>
          </a:xfrm>
          <a:prstGeom prst="roundRect">
            <a:avLst>
              <a:gd name="adj" fmla="val 18421"/>
            </a:avLst>
          </a:prstGeom>
          <a:solidFill>
            <a:srgbClr val="FFF7ED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0976" y="2825496"/>
            <a:ext cx="2286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F59E0B"/>
                </a:solidFill>
              </a:rPr>
              <a:t>4</a:t>
            </a:r>
            <a:endParaRPr lang="en-US" sz="780" dirty="0"/>
          </a:p>
        </p:txBody>
      </p:sp>
      <p:sp>
        <p:nvSpPr>
          <p:cNvPr id="20" name="Text 18"/>
          <p:cNvSpPr/>
          <p:nvPr/>
        </p:nvSpPr>
        <p:spPr>
          <a:xfrm>
            <a:off x="1325880" y="2816352"/>
            <a:ext cx="4480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475569"/>
                </a:solidFill>
              </a:rPr>
              <a:t>Storefront demo: home → category → product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77240" y="3246120"/>
            <a:ext cx="5394960" cy="347472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0976" y="3328416"/>
            <a:ext cx="2286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F59E0B"/>
                </a:solidFill>
              </a:rPr>
              <a:t>5</a:t>
            </a:r>
            <a:endParaRPr lang="en-US" sz="780" dirty="0"/>
          </a:p>
        </p:txBody>
      </p:sp>
      <p:sp>
        <p:nvSpPr>
          <p:cNvPr id="23" name="Text 21"/>
          <p:cNvSpPr/>
          <p:nvPr/>
        </p:nvSpPr>
        <p:spPr>
          <a:xfrm>
            <a:off x="1325880" y="3319272"/>
            <a:ext cx="4480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475569"/>
                </a:solidFill>
              </a:rPr>
              <a:t>Cart demo: add/update/remove + persistence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77240" y="3749040"/>
            <a:ext cx="5394960" cy="347472"/>
          </a:xfrm>
          <a:prstGeom prst="roundRect">
            <a:avLst>
              <a:gd name="adj" fmla="val 18421"/>
            </a:avLst>
          </a:prstGeom>
          <a:solidFill>
            <a:srgbClr val="FFF7ED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50976" y="3831336"/>
            <a:ext cx="2286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F59E0B"/>
                </a:solidFill>
              </a:rPr>
              <a:t>6</a:t>
            </a:r>
            <a:endParaRPr lang="en-US" sz="780" dirty="0"/>
          </a:p>
        </p:txBody>
      </p:sp>
      <p:sp>
        <p:nvSpPr>
          <p:cNvPr id="26" name="Text 24"/>
          <p:cNvSpPr/>
          <p:nvPr/>
        </p:nvSpPr>
        <p:spPr>
          <a:xfrm>
            <a:off x="1325880" y="3822192"/>
            <a:ext cx="4480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475569"/>
                </a:solidFill>
              </a:rPr>
              <a:t>Authentication and checkout order submission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77240" y="4251960"/>
            <a:ext cx="5394960" cy="347472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50976" y="4334256"/>
            <a:ext cx="2286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F59E0B"/>
                </a:solidFill>
              </a:rPr>
              <a:t>7</a:t>
            </a:r>
            <a:endParaRPr lang="en-US" sz="780" dirty="0"/>
          </a:p>
        </p:txBody>
      </p:sp>
      <p:sp>
        <p:nvSpPr>
          <p:cNvPr id="29" name="Text 27"/>
          <p:cNvSpPr/>
          <p:nvPr/>
        </p:nvSpPr>
        <p:spPr>
          <a:xfrm>
            <a:off x="1325880" y="4325112"/>
            <a:ext cx="4480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475569"/>
                </a:solidFill>
              </a:rPr>
              <a:t>Admin dashboard: stats, products, orders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777240" y="4754880"/>
            <a:ext cx="5394960" cy="347472"/>
          </a:xfrm>
          <a:prstGeom prst="roundRect">
            <a:avLst>
              <a:gd name="adj" fmla="val 18421"/>
            </a:avLst>
          </a:prstGeom>
          <a:solidFill>
            <a:srgbClr val="FFF7ED"/>
          </a:solidFill>
          <a:ln w="12700">
            <a:solidFill>
              <a:srgbClr val="E4DE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50976" y="4837176"/>
            <a:ext cx="2286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F59E0B"/>
                </a:solidFill>
              </a:rPr>
              <a:t>8</a:t>
            </a:r>
            <a:endParaRPr lang="en-US" sz="780" dirty="0"/>
          </a:p>
        </p:txBody>
      </p:sp>
      <p:sp>
        <p:nvSpPr>
          <p:cNvPr id="32" name="Text 30"/>
          <p:cNvSpPr/>
          <p:nvPr/>
        </p:nvSpPr>
        <p:spPr>
          <a:xfrm>
            <a:off x="1325880" y="4828032"/>
            <a:ext cx="4480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475569"/>
                </a:solidFill>
              </a:rPr>
              <a:t>QA/Jira/GitHub evidence and final conclusion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766560" y="1234440"/>
            <a:ext cx="4343400" cy="2834640"/>
          </a:xfrm>
          <a:prstGeom prst="roundRect">
            <a:avLst>
              <a:gd name="adj" fmla="val 3871"/>
            </a:avLst>
          </a:prstGeom>
          <a:solidFill>
            <a:srgbClr val="0E0E0E"/>
          </a:solidFill>
          <a:ln w="12700">
            <a:solidFill>
              <a:srgbClr val="0E0E0E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86600" y="157276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Team Speaking Flow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086600" y="2029968"/>
            <a:ext cx="333756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FFFFFF"/>
                </a:solidFill>
              </a:rPr>
              <a:t>• Baraa: intro, Agile/Jira, final delivery
• Hamed: backend, database, QA support
• Yahya: UI, diagrams, admin/demo features</a:t>
            </a:r>
            <a:endParaRPr lang="en-US" sz="1020" dirty="0"/>
          </a:p>
        </p:txBody>
      </p:sp>
      <p:sp>
        <p:nvSpPr>
          <p:cNvPr id="36" name="Shape 34"/>
          <p:cNvSpPr/>
          <p:nvPr/>
        </p:nvSpPr>
        <p:spPr>
          <a:xfrm>
            <a:off x="6766560" y="4462272"/>
            <a:ext cx="4343400" cy="530352"/>
          </a:xfrm>
          <a:prstGeom prst="roundRect">
            <a:avLst>
              <a:gd name="adj" fmla="val 2069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22592" y="4636008"/>
            <a:ext cx="382219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65F46"/>
                </a:solidFill>
              </a:rPr>
              <a:t>Record using seeded data and avoid deleting existing products during the live demo.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30352" y="656539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60" dirty="0">
                <a:solidFill>
                  <a:srgbClr val="9CA3AF"/>
                </a:solidFill>
              </a:rPr>
              <a:t>YallaMarket  •  Software Engineering Final Presentation</a:t>
            </a:r>
            <a:endParaRPr lang="en-US" sz="66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0E"/>
          </a:solidFill>
          <a:ln w="12700">
            <a:solidFill>
              <a:srgbClr val="0E0E0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0" y="-1371600"/>
            <a:ext cx="5486400" cy="5486400"/>
          </a:xfrm>
          <a:prstGeom prst="arc">
            <a:avLst/>
          </a:prstGeom>
          <a:noFill/>
          <a:ln w="25400">
            <a:solidFill>
              <a:srgbClr val="F59E0B">
                <a:alpha val="65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32588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Final Submission Ready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59536" y="2148840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DEBC8"/>
                </a:solidFill>
              </a:rPr>
              <a:t>YallaMarket demonstrates a complete software engineering process: requirements, design, implementation, QA, Agile tracking, GitHub collaboration, and proof-of-work demo.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3794760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</a:rPr>
              <a:t>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61288" y="3813048"/>
            <a:ext cx="1691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Final Report PDF</a:t>
            </a:r>
            <a:endParaRPr lang="en-US" sz="920" dirty="0"/>
          </a:p>
        </p:txBody>
      </p:sp>
      <p:sp>
        <p:nvSpPr>
          <p:cNvPr id="8" name="Text 6"/>
          <p:cNvSpPr/>
          <p:nvPr/>
        </p:nvSpPr>
        <p:spPr>
          <a:xfrm>
            <a:off x="3108960" y="3794760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</a:rPr>
              <a:t>✓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01568" y="3813048"/>
            <a:ext cx="1691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QA Report</a:t>
            </a:r>
            <a:endParaRPr lang="en-US" sz="920" dirty="0"/>
          </a:p>
        </p:txBody>
      </p:sp>
      <p:sp>
        <p:nvSpPr>
          <p:cNvPr id="10" name="Text 8"/>
          <p:cNvSpPr/>
          <p:nvPr/>
        </p:nvSpPr>
        <p:spPr>
          <a:xfrm>
            <a:off x="5349240" y="3794760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41848" y="3813048"/>
            <a:ext cx="1691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PPTX Presentation</a:t>
            </a:r>
            <a:endParaRPr lang="en-US" sz="920" dirty="0"/>
          </a:p>
        </p:txBody>
      </p:sp>
      <p:sp>
        <p:nvSpPr>
          <p:cNvPr id="12" name="Text 10"/>
          <p:cNvSpPr/>
          <p:nvPr/>
        </p:nvSpPr>
        <p:spPr>
          <a:xfrm>
            <a:off x="868680" y="4361688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61288" y="4379976"/>
            <a:ext cx="1691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Video Demo</a:t>
            </a:r>
            <a:endParaRPr lang="en-US" sz="920" dirty="0"/>
          </a:p>
        </p:txBody>
      </p:sp>
      <p:sp>
        <p:nvSpPr>
          <p:cNvPr id="14" name="Text 12"/>
          <p:cNvSpPr/>
          <p:nvPr/>
        </p:nvSpPr>
        <p:spPr>
          <a:xfrm>
            <a:off x="3108960" y="4361688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01568" y="4379976"/>
            <a:ext cx="1691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GitHub URL + ZIP</a:t>
            </a:r>
            <a:endParaRPr lang="en-US" sz="920" dirty="0"/>
          </a:p>
        </p:txBody>
      </p:sp>
      <p:sp>
        <p:nvSpPr>
          <p:cNvPr id="16" name="Text 14"/>
          <p:cNvSpPr/>
          <p:nvPr/>
        </p:nvSpPr>
        <p:spPr>
          <a:xfrm>
            <a:off x="5349240" y="4361688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41848" y="4379976"/>
            <a:ext cx="1691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Jira Evidence</a:t>
            </a:r>
            <a:endParaRPr lang="en-US" sz="920" dirty="0"/>
          </a:p>
        </p:txBody>
      </p:sp>
      <p:sp>
        <p:nvSpPr>
          <p:cNvPr id="18" name="Text 16"/>
          <p:cNvSpPr/>
          <p:nvPr/>
        </p:nvSpPr>
        <p:spPr>
          <a:xfrm>
            <a:off x="868680" y="570585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</a:rPr>
              <a:t>Thank You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68680" y="6108192"/>
            <a:ext cx="4572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E5E7EB"/>
                </a:solidFill>
              </a:rPr>
              <a:t>Baraa Masri • Hamed Bizreh • Yahya Ziyoud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30352" y="656539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60" dirty="0">
                <a:solidFill>
                  <a:srgbClr val="9CA3AF"/>
                </a:solidFill>
              </a:rPr>
              <a:t>YallaMarket  •  Software Engineering Final Presentation</a:t>
            </a:r>
            <a:endParaRPr lang="en-US" sz="6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1406</Words>
  <Application>Microsoft Office PowerPoint</Application>
  <PresentationFormat>Widescreen</PresentationFormat>
  <Paragraphs>227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An-Najah National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YallaMarket — Professional Final Presentation</dc:title>
  <dc:subject>YallaMarket Final Software Engineering Presentation</dc:subject>
  <dc:creator>Baraa Masri</dc:creator>
  <cp:lastModifiedBy>baraa masri</cp:lastModifiedBy>
  <cp:revision>15</cp:revision>
  <dcterms:created xsi:type="dcterms:W3CDTF">2026-05-12T13:46:32Z</dcterms:created>
  <dcterms:modified xsi:type="dcterms:W3CDTF">2026-05-12T14:44:49Z</dcterms:modified>
</cp:coreProperties>
</file>