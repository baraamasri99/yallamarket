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256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129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1164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framing the project as a complete software engineering process, not only as a web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40080"/>
            <a:ext cx="914400" cy="640080"/>
          </a:xfrm>
          <a:prstGeom prst="roundRect">
            <a:avLst>
              <a:gd name="adj" fmla="val 1142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804672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YM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2560320" cy="310896"/>
          </a:xfrm>
          <a:prstGeom prst="roundRect">
            <a:avLst>
              <a:gd name="adj" fmla="val 23529"/>
            </a:avLst>
          </a:prstGeom>
          <a:solidFill>
            <a:srgbClr val="11100E"/>
          </a:solidFill>
          <a:ln w="12700">
            <a:solidFill>
              <a:srgbClr val="11100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664208"/>
            <a:ext cx="2340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SOFTWARE ENGINEERING PROJECT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2039112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F1A17"/>
                </a:solidFill>
              </a:rPr>
              <a:t>YallaMarket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13232" y="26974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6B625A"/>
                </a:solidFill>
              </a:rPr>
              <a:t>Digital marketplace for game cards, subscriptions &amp; balances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13232" y="336499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25A"/>
                </a:solidFill>
              </a:rPr>
              <a:t>Final Presentation • Agile/Scrum • React + Express + SQLite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147248" y="709126"/>
            <a:ext cx="2799184" cy="5024161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>
            <a:solidFill>
              <a:srgbClr val="EADBCB"/>
            </a:solidFill>
            <a:prstDash val="solid"/>
          </a:ln>
          <a:effectLst>
            <a:outerShdw blurRad="25400" dist="508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235316" y="804672"/>
            <a:ext cx="2638546" cy="320040"/>
          </a:xfrm>
          <a:prstGeom prst="roundRect">
            <a:avLst>
              <a:gd name="adj" fmla="val 14286"/>
            </a:avLst>
          </a:prstGeom>
          <a:solidFill>
            <a:srgbClr val="11100E">
              <a:alpha val="95000"/>
            </a:srgbClr>
          </a:solidFill>
          <a:ln w="12700">
            <a:solidFill>
              <a:srgbClr val="11100E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35040" y="577900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625A"/>
                </a:solidFill>
              </a:rPr>
              <a:t>Bilingual storefront • cart • checkout • backend-ready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02920" y="6528816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25A"/>
                </a:solidFill>
              </a:rPr>
              <a:t>YallaMarket • Software Engineering Project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25A"/>
                </a:solidFill>
              </a:rPr>
              <a:t>01</a:t>
            </a:r>
            <a:endParaRPr lang="en-US" sz="9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005327A-766C-EB79-F7DB-2C90001F81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5316" y="1124712"/>
            <a:ext cx="2638546" cy="45171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Objective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 real shopping need to a structured software system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E9D8C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17320"/>
            <a:ext cx="521208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F0E4D4"/>
            </a:solidFill>
            <a:prstDash val="solid"/>
          </a:ln>
          <a:effectLst>
            <a:outerShdw blurRad="25400" dist="508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73736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1A17"/>
                </a:solidFill>
              </a:rPr>
              <a:t>The Problem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238658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4712" y="233172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1A17"/>
                </a:solidFill>
              </a:rPr>
              <a:t>Users need a simple way to browse and buy digital products online.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2935224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24712" y="288036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1A17"/>
                </a:solidFill>
              </a:rPr>
              <a:t>The flow should be fast, bilingual and mobile-friendly.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3483864"/>
            <a:ext cx="109728" cy="109728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24712" y="342900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1A17"/>
                </a:solidFill>
              </a:rPr>
              <a:t>The system must be documented like a real software project.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4032504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24712" y="397764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1A17"/>
                </a:solidFill>
              </a:rPr>
              <a:t>Team work must be visible through Jira, GitHub and iterations.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1417320"/>
            <a:ext cx="5257800" cy="4251960"/>
          </a:xfrm>
          <a:prstGeom prst="roundRect">
            <a:avLst>
              <a:gd name="adj" fmla="val 1720"/>
            </a:avLst>
          </a:prstGeom>
          <a:solidFill>
            <a:srgbClr val="11100E"/>
          </a:solidFill>
          <a:ln w="12700">
            <a:solidFill>
              <a:srgbClr val="11100E"/>
            </a:solidFill>
            <a:prstDash val="solid"/>
          </a:ln>
          <a:effectLst>
            <a:outerShdw blurRad="25400" dist="508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29400" y="173736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Project Objective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629400" y="2331720"/>
            <a:ext cx="448056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7EFE4"/>
                </a:solidFill>
              </a:rPr>
              <a:t>Design, document and implement a working marketplace that demonstrates requirements engineering, UML modeling, agile planning, implementation and quality assurance.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629400" y="397764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ADBCB"/>
            </a:solidFill>
            <a:prstDash val="solid"/>
          </a:ln>
          <a:effectLst>
            <a:outerShdw blurRad="25400" dist="508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93992" y="4123944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</a:rPr>
              <a:t>5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766560" y="456285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6B625A"/>
                </a:solidFill>
              </a:rPr>
              <a:t>Core customer pages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8823960" y="397764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ADBCB"/>
            </a:solidFill>
            <a:prstDash val="solid"/>
          </a:ln>
          <a:effectLst>
            <a:outerShdw blurRad="25400" dist="508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988552" y="4123944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A34A"/>
                </a:solidFill>
              </a:rPr>
              <a:t>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961120" y="456285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6B625A"/>
                </a:solidFill>
              </a:rPr>
              <a:t>Sprints tracked in Jira</a:t>
            </a:r>
            <a:endParaRPr lang="en-US" sz="860" dirty="0"/>
          </a:p>
        </p:txBody>
      </p:sp>
      <p:sp>
        <p:nvSpPr>
          <p:cNvPr id="24" name="Text 22"/>
          <p:cNvSpPr/>
          <p:nvPr/>
        </p:nvSpPr>
        <p:spPr>
          <a:xfrm>
            <a:off x="502920" y="6528816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25A"/>
                </a:solidFill>
              </a:rPr>
              <a:t>YallaMarket • Software Engineering Project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25A"/>
                </a:solidFill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&amp; Stakeholders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project delivers today and what it prepares for next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E9D8C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49377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BDAC8"/>
            </a:solidFill>
            <a:prstDash val="solid"/>
          </a:ln>
          <a:effectLst>
            <a:outerShdw blurRad="25400" dist="508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1627632"/>
            <a:ext cx="1463040" cy="310896"/>
          </a:xfrm>
          <a:prstGeom prst="roundRect">
            <a:avLst>
              <a:gd name="adj" fmla="val 23529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9848" y="16916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Guest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606040" y="162763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1A17"/>
                </a:solidFill>
              </a:rPr>
              <a:t>Browse categories, products, product details, cart and checkout UI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31520" y="2423160"/>
            <a:ext cx="49377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BDA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2587752"/>
            <a:ext cx="1463040" cy="310896"/>
          </a:xfrm>
          <a:prstGeom prst="roundRect">
            <a:avLst>
              <a:gd name="adj" fmla="val 23529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9848" y="265176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Registered User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606040" y="258775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1A17"/>
                </a:solidFill>
              </a:rPr>
              <a:t>Register, login and submit orders when backend flow is enabled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1520" y="3383280"/>
            <a:ext cx="49377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BDAC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3547872"/>
            <a:ext cx="1463040" cy="310896"/>
          </a:xfrm>
          <a:prstGeom prst="roundRect">
            <a:avLst>
              <a:gd name="adj" fmla="val 23529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9848" y="361188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Admin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606040" y="354787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1A17"/>
                </a:solidFill>
              </a:rPr>
              <a:t>Future catalog/order management and dashboard access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31520" y="4343400"/>
            <a:ext cx="49377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BDAC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0120" y="4507992"/>
            <a:ext cx="1463040" cy="310896"/>
          </a:xfrm>
          <a:prstGeom prst="roundRect">
            <a:avLst>
              <a:gd name="adj" fmla="val 23529"/>
            </a:avLst>
          </a:prstGeom>
          <a:solidFill>
            <a:srgbClr val="11100E"/>
          </a:solidFill>
          <a:ln w="12700">
            <a:solidFill>
              <a:srgbClr val="11100E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69848" y="457200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Instructor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606040" y="450799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1A17"/>
                </a:solidFill>
              </a:rPr>
              <a:t>Evaluates requirements, modeling, agile process, implementation and testing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46520" y="1325880"/>
            <a:ext cx="489204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BDAC8"/>
            </a:solidFill>
            <a:prstDash val="solid"/>
          </a:ln>
          <a:effectLst>
            <a:outerShdw blurRad="25400" dist="508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766560" y="16916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1A17"/>
                </a:solidFill>
              </a:rPr>
              <a:t>Current Scope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784848" y="223113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95160" y="217627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1A17"/>
                </a:solidFill>
              </a:rPr>
              <a:t>Bilingual storefront (AR/EN)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784848" y="2670048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95160" y="261518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1A17"/>
                </a:solidFill>
              </a:rPr>
              <a:t>Category and product browsing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784848" y="310896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95160" y="305409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1A17"/>
                </a:solidFill>
              </a:rPr>
              <a:t>Product details + related items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784848" y="3547872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95160" y="349300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1A17"/>
                </a:solidFill>
              </a:rPr>
              <a:t>Cart with localStorage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784848" y="398678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95160" y="393192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1A17"/>
                </a:solidFill>
              </a:rPr>
              <a:t>Checkout UI + order summary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784848" y="4425696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95160" y="437083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1A17"/>
                </a:solidFill>
              </a:rPr>
              <a:t>Auth/backend foundations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02920" y="6528816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25A"/>
                </a:solidFill>
              </a:rPr>
              <a:t>YallaMarket • Software Engineering Project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25A"/>
                </a:solidFill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Summary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and non-functional requirements guided the build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E9D8C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71600"/>
            <a:ext cx="5486400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2700">
            <a:solidFill>
              <a:srgbClr val="F0E4D4"/>
            </a:solidFill>
            <a:prstDash val="solid"/>
          </a:ln>
          <a:effectLst>
            <a:outerShdw blurRad="25400" dist="508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64592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1A17"/>
                </a:solidFill>
              </a:rPr>
              <a:t>Functional Requirements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</a:rPr>
              <a:t>FR-01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600200" y="214884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1A17"/>
                </a:solidFill>
              </a:rPr>
              <a:t>Browse categories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600200" y="2441448"/>
            <a:ext cx="841248" cy="310896"/>
          </a:xfrm>
          <a:prstGeom prst="roundRect">
            <a:avLst>
              <a:gd name="adj" fmla="val 23529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09928" y="2505456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High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14400" y="293522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</a:rPr>
              <a:t>FR-02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600200" y="293522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1A17"/>
                </a:solidFill>
              </a:rPr>
              <a:t>View products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600200" y="3227832"/>
            <a:ext cx="841248" cy="310896"/>
          </a:xfrm>
          <a:prstGeom prst="roundRect">
            <a:avLst>
              <a:gd name="adj" fmla="val 23529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09928" y="329184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High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14400" y="372160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</a:rPr>
              <a:t>FR-03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600200" y="372160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1A17"/>
                </a:solidFill>
              </a:rPr>
              <a:t>Search/filter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600200" y="4014216"/>
            <a:ext cx="841248" cy="310896"/>
          </a:xfrm>
          <a:prstGeom prst="roundRect">
            <a:avLst>
              <a:gd name="adj" fmla="val 23529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09928" y="407822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Medium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14400" y="450799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</a:rPr>
              <a:t>FR-04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600200" y="450799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1A17"/>
                </a:solidFill>
              </a:rPr>
              <a:t>Product details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600200" y="4800600"/>
            <a:ext cx="841248" cy="310896"/>
          </a:xfrm>
          <a:prstGeom prst="roundRect">
            <a:avLst>
              <a:gd name="adj" fmla="val 23529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09928" y="4864608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High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401568" y="214884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</a:rPr>
              <a:t>FR-05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087368" y="214884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1A17"/>
                </a:solidFill>
              </a:rPr>
              <a:t>Add to cart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087368" y="2441448"/>
            <a:ext cx="841248" cy="310896"/>
          </a:xfrm>
          <a:prstGeom prst="roundRect">
            <a:avLst>
              <a:gd name="adj" fmla="val 23529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97096" y="2505456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High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401568" y="293522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</a:rPr>
              <a:t>FR-10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087368" y="293522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1A17"/>
                </a:solidFill>
              </a:rPr>
              <a:t>Checkout form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087368" y="3227832"/>
            <a:ext cx="841248" cy="310896"/>
          </a:xfrm>
          <a:prstGeom prst="roundRect">
            <a:avLst>
              <a:gd name="adj" fmla="val 23529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97096" y="329184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High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401568" y="372160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</a:rPr>
              <a:t>FR-11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087368" y="372160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1A17"/>
                </a:solidFill>
              </a:rPr>
              <a:t>Language switch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087368" y="4014216"/>
            <a:ext cx="841248" cy="310896"/>
          </a:xfrm>
          <a:prstGeom prst="roundRect">
            <a:avLst>
              <a:gd name="adj" fmla="val 23529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97096" y="407822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High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401568" y="450799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</a:rPr>
              <a:t>FR-13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087368" y="450799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1A17"/>
                </a:solidFill>
              </a:rPr>
              <a:t>Register/Login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087368" y="4800600"/>
            <a:ext cx="841248" cy="310896"/>
          </a:xfrm>
          <a:prstGeom prst="roundRect">
            <a:avLst>
              <a:gd name="adj" fmla="val 23529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97096" y="4864608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High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492240" y="1371600"/>
            <a:ext cx="5120640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2700">
            <a:solidFill>
              <a:srgbClr val="F0E4D4"/>
            </a:solidFill>
            <a:prstDash val="solid"/>
          </a:ln>
          <a:effectLst>
            <a:outerShdw blurRad="25400" dist="508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812280" y="164592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1A17"/>
                </a:solidFill>
              </a:rPr>
              <a:t>Quality Attributes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6812280" y="220370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22592" y="214884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1A17"/>
                </a:solidFill>
              </a:rPr>
              <a:t>Performance: pages load quickly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812280" y="2679192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022592" y="262432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1A17"/>
                </a:solidFill>
              </a:rPr>
              <a:t>Usability: smooth shopping flow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812280" y="315468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022592" y="309981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1A17"/>
                </a:solidFill>
              </a:rPr>
              <a:t>Localization: Arabic RTL + English LTR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812280" y="3630168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022592" y="357530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1A17"/>
                </a:solidFill>
              </a:rPr>
              <a:t>Reliability: friendly errors and empty states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6812280" y="410565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22592" y="405079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1A17"/>
                </a:solidFill>
              </a:rPr>
              <a:t>Maintainability: pages/components/services/context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6812280" y="4581144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022592" y="452628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1A17"/>
                </a:solidFill>
              </a:rPr>
              <a:t>Security: bcrypt + JWT foundations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502920" y="6528816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25A"/>
                </a:solidFill>
              </a:rPr>
              <a:t>YallaMarket • Software Engineering Project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25A"/>
                </a:solidFill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User Journey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demo follows one clean customer flow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E9D8C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48840" y="2606040"/>
            <a:ext cx="411480" cy="0"/>
          </a:xfrm>
          <a:prstGeom prst="line">
            <a:avLst/>
          </a:prstGeom>
          <a:noFill/>
          <a:ln w="19050">
            <a:solidFill>
              <a:srgbClr val="6B625A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977640" y="2606040"/>
            <a:ext cx="457200" cy="0"/>
          </a:xfrm>
          <a:prstGeom prst="line">
            <a:avLst/>
          </a:prstGeom>
          <a:noFill/>
          <a:ln w="19050">
            <a:solidFill>
              <a:srgbClr val="6B625A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852160" y="2606040"/>
            <a:ext cx="457200" cy="0"/>
          </a:xfrm>
          <a:prstGeom prst="line">
            <a:avLst/>
          </a:prstGeom>
          <a:noFill/>
          <a:ln w="19050">
            <a:solidFill>
              <a:srgbClr val="6B625A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726680" y="2606040"/>
            <a:ext cx="457200" cy="0"/>
          </a:xfrm>
          <a:prstGeom prst="line">
            <a:avLst/>
          </a:prstGeom>
          <a:noFill/>
          <a:ln w="19050">
            <a:solidFill>
              <a:srgbClr val="6B625A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601200" y="2606040"/>
            <a:ext cx="411480" cy="0"/>
          </a:xfrm>
          <a:prstGeom prst="line">
            <a:avLst/>
          </a:prstGeom>
          <a:noFill/>
          <a:ln w="19050">
            <a:solidFill>
              <a:srgbClr val="6B625A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22960" y="2286000"/>
            <a:ext cx="1417320" cy="640080"/>
          </a:xfrm>
          <a:prstGeom prst="roundRect">
            <a:avLst>
              <a:gd name="adj" fmla="val 11429"/>
            </a:avLst>
          </a:prstGeom>
          <a:solidFill>
            <a:srgbClr val="FFF0D2"/>
          </a:solidFill>
          <a:ln w="1778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395728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A17"/>
                </a:solidFill>
              </a:rPr>
              <a:t>Home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651760" y="2286000"/>
            <a:ext cx="1417320" cy="640080"/>
          </a:xfrm>
          <a:prstGeom prst="roundRect">
            <a:avLst>
              <a:gd name="adj" fmla="val 11429"/>
            </a:avLst>
          </a:prstGeom>
          <a:solidFill>
            <a:srgbClr val="E9FBEF"/>
          </a:solidFill>
          <a:ln w="1778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2395728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A17"/>
                </a:solidFill>
              </a:rPr>
              <a:t>Category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26280" y="2286000"/>
            <a:ext cx="1417320" cy="640080"/>
          </a:xfrm>
          <a:prstGeom prst="roundRect">
            <a:avLst>
              <a:gd name="adj" fmla="val 11429"/>
            </a:avLst>
          </a:prstGeom>
          <a:solidFill>
            <a:srgbClr val="FFF0D2"/>
          </a:solidFill>
          <a:ln w="1778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2395728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A17"/>
                </a:solidFill>
              </a:rPr>
              <a:t>Product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0" y="2286000"/>
            <a:ext cx="1417320" cy="640080"/>
          </a:xfrm>
          <a:prstGeom prst="roundRect">
            <a:avLst>
              <a:gd name="adj" fmla="val 11429"/>
            </a:avLst>
          </a:prstGeom>
          <a:solidFill>
            <a:srgbClr val="E9FBEF"/>
          </a:solidFill>
          <a:ln w="1778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2395728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A17"/>
                </a:solidFill>
              </a:rPr>
              <a:t>Cart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275320" y="2286000"/>
            <a:ext cx="1417320" cy="640080"/>
          </a:xfrm>
          <a:prstGeom prst="roundRect">
            <a:avLst>
              <a:gd name="adj" fmla="val 11429"/>
            </a:avLst>
          </a:prstGeom>
          <a:solidFill>
            <a:srgbClr val="FFF0D2"/>
          </a:solidFill>
          <a:ln w="1778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66760" y="2395728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A17"/>
                </a:solidFill>
              </a:rPr>
              <a:t>Checkout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0104120" y="2286000"/>
            <a:ext cx="1417320" cy="640080"/>
          </a:xfrm>
          <a:prstGeom prst="roundRect">
            <a:avLst>
              <a:gd name="adj" fmla="val 11429"/>
            </a:avLst>
          </a:prstGeom>
          <a:solidFill>
            <a:srgbClr val="E9FBEF"/>
          </a:solidFill>
          <a:ln w="1778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95560" y="2395728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A17"/>
                </a:solidFill>
              </a:rPr>
              <a:t>Order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60120" y="3749040"/>
            <a:ext cx="102412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F0E4D4"/>
            </a:solidFill>
            <a:prstDash val="solid"/>
          </a:ln>
          <a:effectLst>
            <a:outerShdw blurRad="25400" dist="508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234440" y="40233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1A17"/>
                </a:solidFill>
              </a:rPr>
              <a:t>Demonstrated Behaviors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234440" y="4526280"/>
            <a:ext cx="1280160" cy="310896"/>
          </a:xfrm>
          <a:prstGeom prst="roundRect">
            <a:avLst>
              <a:gd name="adj" fmla="val 23529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44168" y="4590288"/>
            <a:ext cx="1060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Routing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816352" y="4526280"/>
            <a:ext cx="1280160" cy="310896"/>
          </a:xfrm>
          <a:prstGeom prst="roundRect">
            <a:avLst>
              <a:gd name="adj" fmla="val 23529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26080" y="4590288"/>
            <a:ext cx="1060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Search/filter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398264" y="4526280"/>
            <a:ext cx="1280160" cy="310896"/>
          </a:xfrm>
          <a:prstGeom prst="roundRect">
            <a:avLst>
              <a:gd name="adj" fmla="val 23529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07992" y="4590288"/>
            <a:ext cx="1060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Related products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980176" y="4526280"/>
            <a:ext cx="1280160" cy="310896"/>
          </a:xfrm>
          <a:prstGeom prst="roundRect">
            <a:avLst>
              <a:gd name="adj" fmla="val 23529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89904" y="4590288"/>
            <a:ext cx="1060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Cart persistence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562088" y="4526280"/>
            <a:ext cx="1280160" cy="310896"/>
          </a:xfrm>
          <a:prstGeom prst="roundRect">
            <a:avLst>
              <a:gd name="adj" fmla="val 23529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71816" y="4590288"/>
            <a:ext cx="1060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Checkout validation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9144000" y="4526280"/>
            <a:ext cx="1280160" cy="310896"/>
          </a:xfrm>
          <a:prstGeom prst="roundRect">
            <a:avLst>
              <a:gd name="adj" fmla="val 23529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253728" y="4590288"/>
            <a:ext cx="1060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Auth-ready flow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02920" y="6528816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25A"/>
                </a:solidFill>
              </a:rPr>
              <a:t>YallaMarket • Software Engineering Project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25A"/>
                </a:solidFill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Layered design: frontend, backend and persistence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E9D8C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77440" y="2743200"/>
            <a:ext cx="1280160" cy="0"/>
          </a:xfrm>
          <a:prstGeom prst="line">
            <a:avLst/>
          </a:prstGeom>
          <a:noFill/>
          <a:ln w="19050">
            <a:solidFill>
              <a:srgbClr val="6B625A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577840" y="2743200"/>
            <a:ext cx="1234440" cy="0"/>
          </a:xfrm>
          <a:prstGeom prst="line">
            <a:avLst/>
          </a:prstGeom>
          <a:noFill/>
          <a:ln w="19050">
            <a:solidFill>
              <a:srgbClr val="6B625A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595360" y="2743200"/>
            <a:ext cx="1097280" cy="0"/>
          </a:xfrm>
          <a:prstGeom prst="line">
            <a:avLst/>
          </a:prstGeom>
          <a:noFill/>
          <a:ln w="19050">
            <a:solidFill>
              <a:srgbClr val="6B625A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217920" y="3886200"/>
            <a:ext cx="594360" cy="0"/>
          </a:xfrm>
          <a:prstGeom prst="line">
            <a:avLst/>
          </a:prstGeom>
          <a:noFill/>
          <a:ln w="19050">
            <a:solidFill>
              <a:srgbClr val="6B625A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31520" y="233172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EAF1FF"/>
          </a:solidFill>
          <a:ln w="1778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441448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A17"/>
                </a:solidFill>
              </a:rPr>
              <a:t>Users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F1A17"/>
                </a:solidFill>
              </a:rPr>
              <a:t>Browser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0" y="214884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E9FBEF"/>
          </a:solidFill>
          <a:ln w="1778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0" y="2258568"/>
            <a:ext cx="1737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1A17"/>
                </a:solidFill>
              </a:rPr>
              <a:t>React Frontend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F1A17"/>
                </a:solidFill>
              </a:rPr>
              <a:t>Vite + Tailwind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12280" y="214884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FFF0D2"/>
          </a:solidFill>
          <a:ln w="1778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03720" y="2258568"/>
            <a:ext cx="1645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1A17"/>
                </a:solidFill>
              </a:rPr>
              <a:t>Express API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F1A17"/>
                </a:solidFill>
              </a:rPr>
              <a:t>Routes + Controllers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692640" y="2148840"/>
            <a:ext cx="1554480" cy="1188720"/>
          </a:xfrm>
          <a:prstGeom prst="roundRect">
            <a:avLst>
              <a:gd name="adj" fmla="val 6154"/>
            </a:avLst>
          </a:prstGeom>
          <a:solidFill>
            <a:srgbClr val="F5F3FF"/>
          </a:solidFill>
          <a:ln w="1778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0" y="2258568"/>
            <a:ext cx="1371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1A17"/>
                </a:solidFill>
              </a:rPr>
              <a:t>SQLite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F1A17"/>
                </a:solidFill>
              </a:rPr>
              <a:t>Database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12280" y="365760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7780">
            <a:solidFill>
              <a:srgbClr val="D9C2A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03720" y="376732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1A17"/>
                </a:solidFill>
              </a:rPr>
              <a:t>localStorage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F1A17"/>
                </a:solidFill>
              </a:rPr>
              <a:t>Cart persistence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22960" y="475488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0E4D4"/>
            </a:solidFill>
            <a:prstDash val="solid"/>
          </a:ln>
          <a:effectLst>
            <a:outerShdw blurRad="25400" dist="508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97280" y="504748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1A17"/>
                </a:solidFill>
              </a:rPr>
              <a:t>Key principle: services and contexts isolate UI from backend details, making future changes safer.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2920" y="6528816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25A"/>
                </a:solidFill>
              </a:rPr>
              <a:t>YallaMarket • Software Engineering Project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25A"/>
                </a:solidFill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Modeling &amp; ERD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entities were designed for relational persistence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E9D8C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234440"/>
            <a:ext cx="7315200" cy="5212080"/>
          </a:xfrm>
          <a:prstGeom prst="roundRect">
            <a:avLst>
              <a:gd name="adj" fmla="val 1404"/>
            </a:avLst>
          </a:prstGeom>
          <a:solidFill>
            <a:srgbClr val="FFFFFF"/>
          </a:solidFill>
          <a:ln w="12700">
            <a:solidFill>
              <a:srgbClr val="F0E4D4"/>
            </a:solidFill>
            <a:prstDash val="solid"/>
          </a:ln>
          <a:effectLst>
            <a:outerShdw blurRad="25400" dist="50800" dir="2700000" algn="bl" rotWithShape="0">
              <a:srgbClr val="000000">
                <a:alpha val="11000"/>
              </a:srgbClr>
            </a:outerShdw>
          </a:effectLst>
        </p:spPr>
      </p:sp>
      <p:pic>
        <p:nvPicPr>
          <p:cNvPr id="6" name="Image 0" descr="/mnt/data/a_diagram_of_an_entity_relationship_diagram_e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562100"/>
            <a:ext cx="6903720" cy="4602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75320" y="1234440"/>
            <a:ext cx="3246120" cy="521208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F0E4D4"/>
            </a:solidFill>
            <a:prstDash val="solid"/>
          </a:ln>
          <a:effectLst>
            <a:outerShdw blurRad="25400" dist="508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549640" y="162763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1A17"/>
                </a:solidFill>
              </a:rPr>
              <a:t>Core Tables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8549640" y="220370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59952" y="214884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1A17"/>
                </a:solidFill>
              </a:rPr>
              <a:t>Users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549640" y="2706624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59952" y="265176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1A17"/>
                </a:solidFill>
              </a:rPr>
              <a:t>Categories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549640" y="320954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59952" y="315468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1A17"/>
                </a:solidFill>
              </a:rPr>
              <a:t>Products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549640" y="3712464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759952" y="365760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1A17"/>
                </a:solidFill>
              </a:rPr>
              <a:t>Orders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549640" y="421538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759952" y="416052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1A17"/>
                </a:solidFill>
              </a:rPr>
              <a:t>Order Items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549640" y="48463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Design goal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549640" y="5166360"/>
            <a:ext cx="242316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625A"/>
                </a:solidFill>
              </a:rPr>
              <a:t>Keep catalog and order data normalized so admin and analytics features can be added later.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02920" y="6528816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25A"/>
                </a:solidFill>
              </a:rPr>
              <a:t>YallaMarket • Software Engineering Project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25A"/>
                </a:solidFill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Demo: Catalog Flow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Homepage and category pages demonstrate the main browsing flow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E9D8C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7788" y="1234440"/>
            <a:ext cx="4469363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F0E4D4"/>
            </a:solidFill>
            <a:prstDash val="solid"/>
          </a:ln>
          <a:effectLst>
            <a:outerShdw blurRad="25400" dist="508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5925312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6B625A"/>
                </a:solidFill>
              </a:rPr>
              <a:t>Homepage: brand, search, highlights and categories</a:t>
            </a:r>
            <a:endParaRPr lang="en-US" sz="860" dirty="0"/>
          </a:p>
        </p:txBody>
      </p:sp>
      <p:sp>
        <p:nvSpPr>
          <p:cNvPr id="8" name="Shape 5"/>
          <p:cNvSpPr/>
          <p:nvPr/>
        </p:nvSpPr>
        <p:spPr>
          <a:xfrm>
            <a:off x="6263640" y="1234440"/>
            <a:ext cx="534924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F0E4D4"/>
            </a:solidFill>
            <a:prstDash val="solid"/>
          </a:ln>
          <a:effectLst>
            <a:outerShdw blurRad="25400" dist="508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6537960" y="5925312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6B625A"/>
                </a:solidFill>
              </a:rPr>
              <a:t>Category: filtered product grid and product cards</a:t>
            </a:r>
            <a:endParaRPr lang="en-US" sz="860" dirty="0"/>
          </a:p>
        </p:txBody>
      </p:sp>
      <p:sp>
        <p:nvSpPr>
          <p:cNvPr id="11" name="Text 7"/>
          <p:cNvSpPr/>
          <p:nvPr/>
        </p:nvSpPr>
        <p:spPr>
          <a:xfrm>
            <a:off x="502920" y="6528816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25A"/>
                </a:solidFill>
              </a:rPr>
              <a:t>YallaMarket • Software Engineering Project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25A"/>
                </a:solidFill>
              </a:rPr>
              <a:t>08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07FA467-BD43-A57F-4AA4-C64B74DE80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687" y="1426465"/>
            <a:ext cx="3755572" cy="443484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CC8EECF-DC0F-0060-72D3-8F9AF23C58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8154" y="1453795"/>
            <a:ext cx="4800601" cy="43313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Demo: Cart &amp; Checkout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shopping flow continues into cart management and checkout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E9D8C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23444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F0E4D4"/>
            </a:solidFill>
            <a:prstDash val="solid"/>
          </a:ln>
          <a:effectLst>
            <a:outerShdw blurRad="25400" dist="508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5925312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6B625A"/>
                </a:solidFill>
              </a:rPr>
              <a:t>Cart: quantity controls, deletion and order summary</a:t>
            </a:r>
            <a:endParaRPr lang="en-US" sz="860" dirty="0"/>
          </a:p>
        </p:txBody>
      </p:sp>
      <p:sp>
        <p:nvSpPr>
          <p:cNvPr id="8" name="Shape 5"/>
          <p:cNvSpPr/>
          <p:nvPr/>
        </p:nvSpPr>
        <p:spPr>
          <a:xfrm>
            <a:off x="6309360" y="1234440"/>
            <a:ext cx="530352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F0E4D4"/>
            </a:solidFill>
            <a:prstDash val="solid"/>
          </a:ln>
          <a:effectLst>
            <a:outerShdw blurRad="25400" dist="508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6583680" y="592531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6B625A"/>
                </a:solidFill>
              </a:rPr>
              <a:t>Checkout: customer info, address, payment method and totals</a:t>
            </a:r>
            <a:endParaRPr lang="en-US" sz="860" dirty="0"/>
          </a:p>
        </p:txBody>
      </p:sp>
      <p:sp>
        <p:nvSpPr>
          <p:cNvPr id="11" name="Text 7"/>
          <p:cNvSpPr/>
          <p:nvPr/>
        </p:nvSpPr>
        <p:spPr>
          <a:xfrm>
            <a:off x="502920" y="6528816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25A"/>
                </a:solidFill>
              </a:rPr>
              <a:t>YallaMarket • Software Engineering Project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25A"/>
                </a:solidFill>
              </a:rPr>
              <a:t>09</a:t>
            </a:r>
            <a:endParaRPr lang="en-US" sz="9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3C3AC56-904D-E12E-A9A5-AB70BA7383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3438" y="1492402"/>
            <a:ext cx="4972010" cy="4131157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D10E6B59-0DA2-F32F-9D8C-DA0FD403F8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552" y="1510440"/>
            <a:ext cx="5127356" cy="413887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Agile Execution with Jira &amp; GitHub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was tracked as stories, tasks and refinement fixes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E9D8C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61872"/>
            <a:ext cx="2880360" cy="498348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F0E4D4"/>
            </a:solidFill>
            <a:prstDash val="solid"/>
          </a:ln>
          <a:effectLst>
            <a:outerShdw blurRad="25400" dist="50800" dir="2700000" algn="bl" rotWithShape="0">
              <a:srgbClr val="000000">
                <a:alpha val="11000"/>
              </a:srgbClr>
            </a:outerShdw>
          </a:effectLst>
        </p:spPr>
      </p:sp>
      <p:pic>
        <p:nvPicPr>
          <p:cNvPr id="6" name="Image 0" descr="/mnt/data/image(155).png"/>
          <p:cNvPicPr>
            <a:picLocks noChangeAspect="1"/>
          </p:cNvPicPr>
          <p:nvPr/>
        </p:nvPicPr>
        <p:blipFill>
          <a:blip r:embed="rId3"/>
          <a:srcRect r="-8499"/>
          <a:stretch/>
        </p:blipFill>
        <p:spPr>
          <a:xfrm>
            <a:off x="960120" y="1508760"/>
            <a:ext cx="2331720" cy="4434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977640" y="1261872"/>
            <a:ext cx="7406640" cy="4983480"/>
          </a:xfrm>
          <a:prstGeom prst="roundRect">
            <a:avLst>
              <a:gd name="adj" fmla="val 1468"/>
            </a:avLst>
          </a:prstGeom>
          <a:solidFill>
            <a:srgbClr val="FFFFFF"/>
          </a:solidFill>
          <a:ln w="12700">
            <a:solidFill>
              <a:srgbClr val="F0E4D4"/>
            </a:solidFill>
            <a:prstDash val="solid"/>
          </a:ln>
          <a:effectLst>
            <a:outerShdw blurRad="25400" dist="508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343400" y="16002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1A17"/>
                </a:solidFill>
              </a:rPr>
              <a:t>Sprint Plan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370832" y="205740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480560" y="2121408"/>
            <a:ext cx="832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Sprint 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5577840" y="20848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F1A17"/>
                </a:solidFill>
              </a:rPr>
              <a:t>Storefront foundation</a:t>
            </a:r>
            <a:endParaRPr lang="en-US" sz="1220" dirty="0"/>
          </a:p>
        </p:txBody>
      </p:sp>
      <p:sp>
        <p:nvSpPr>
          <p:cNvPr id="12" name="Text 9"/>
          <p:cNvSpPr/>
          <p:nvPr/>
        </p:nvSpPr>
        <p:spPr>
          <a:xfrm>
            <a:off x="7909560" y="208483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625A"/>
                </a:solidFill>
              </a:rPr>
              <a:t>Home, Category, ProductCard, Cart UI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370832" y="292608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480560" y="2990088"/>
            <a:ext cx="832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Sprint 2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577840" y="295351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F1A17"/>
                </a:solidFill>
              </a:rPr>
              <a:t>UX &amp; state refinement</a:t>
            </a:r>
            <a:endParaRPr lang="en-US" sz="1220" dirty="0"/>
          </a:p>
        </p:txBody>
      </p:sp>
      <p:sp>
        <p:nvSpPr>
          <p:cNvPr id="16" name="Text 13"/>
          <p:cNvSpPr/>
          <p:nvPr/>
        </p:nvSpPr>
        <p:spPr>
          <a:xfrm>
            <a:off x="7909560" y="295351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625A"/>
                </a:solidFill>
              </a:rPr>
              <a:t>CartContext, localStorage, error/empty states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370832" y="379476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480560" y="3858768"/>
            <a:ext cx="832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Sprint 3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577840" y="382219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F1A17"/>
                </a:solidFill>
              </a:rPr>
              <a:t>Backend foundations</a:t>
            </a:r>
            <a:endParaRPr lang="en-US" sz="1220" dirty="0"/>
          </a:p>
        </p:txBody>
      </p:sp>
      <p:sp>
        <p:nvSpPr>
          <p:cNvPr id="20" name="Text 17"/>
          <p:cNvSpPr/>
          <p:nvPr/>
        </p:nvSpPr>
        <p:spPr>
          <a:xfrm>
            <a:off x="7909560" y="382219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625A"/>
                </a:solidFill>
              </a:rPr>
              <a:t>Express, SQLite, auth endpoints, orders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370832" y="466344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480560" y="4727448"/>
            <a:ext cx="832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Sprint 4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5577840" y="469087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F1A17"/>
                </a:solidFill>
              </a:rPr>
              <a:t>Final polish</a:t>
            </a:r>
            <a:endParaRPr lang="en-US" sz="1220" dirty="0"/>
          </a:p>
        </p:txBody>
      </p:sp>
      <p:sp>
        <p:nvSpPr>
          <p:cNvPr id="24" name="Text 21"/>
          <p:cNvSpPr/>
          <p:nvPr/>
        </p:nvSpPr>
        <p:spPr>
          <a:xfrm>
            <a:off x="7909560" y="469087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625A"/>
                </a:solidFill>
              </a:rPr>
              <a:t>Testing, bug fixes, docs and demo prep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343400" y="5669280"/>
            <a:ext cx="6766560" cy="0"/>
          </a:xfrm>
          <a:prstGeom prst="line">
            <a:avLst/>
          </a:prstGeom>
          <a:noFill/>
          <a:ln w="12700">
            <a:solidFill>
              <a:srgbClr val="E9D8C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343400" y="5888736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25A"/>
                </a:solidFill>
              </a:rPr>
              <a:t>Evidence: Jira backlog, sprint statuses, GitHub branches and commit history.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02920" y="6528816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25A"/>
                </a:solidFill>
              </a:rPr>
              <a:t>YallaMarket • Software Engineering Project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25A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&amp; Quality Assurance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 focuses on a complete engineering process, not only running code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E9D8C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17320"/>
            <a:ext cx="10607040" cy="612648"/>
          </a:xfrm>
          <a:prstGeom prst="roundRect">
            <a:avLst>
              <a:gd name="adj" fmla="val 11940"/>
            </a:avLst>
          </a:prstGeom>
          <a:solidFill>
            <a:srgbClr val="FFF8F0"/>
          </a:solidFill>
          <a:ln w="12700">
            <a:solidFill>
              <a:srgbClr val="EBDA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545336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54480" y="15544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A17"/>
                </a:solidFill>
              </a:rPr>
              <a:t>Test Plan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23360" y="1554480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25A"/>
                </a:solidFill>
              </a:rPr>
              <a:t>Define scope, environment and roles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258568"/>
            <a:ext cx="10607040" cy="612648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2700">
            <a:solidFill>
              <a:srgbClr val="EBDA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38658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554480" y="239572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A17"/>
                </a:solidFill>
              </a:rPr>
              <a:t>Test Cases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023360" y="2395728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25A"/>
                </a:solidFill>
              </a:rPr>
              <a:t>Login, search, cart, checkout, invalid routes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3099816"/>
            <a:ext cx="10607040" cy="612648"/>
          </a:xfrm>
          <a:prstGeom prst="roundRect">
            <a:avLst>
              <a:gd name="adj" fmla="val 11940"/>
            </a:avLst>
          </a:prstGeom>
          <a:solidFill>
            <a:srgbClr val="FFF8F0"/>
          </a:solidFill>
          <a:ln w="12700">
            <a:solidFill>
              <a:srgbClr val="EBDA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322783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554480" y="323697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A17"/>
                </a:solidFill>
              </a:rPr>
              <a:t>Test Results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023360" y="3236976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25A"/>
                </a:solidFill>
              </a:rPr>
              <a:t>Record pass/fail and actual behavior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3941064"/>
            <a:ext cx="10607040" cy="612648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2700">
            <a:solidFill>
              <a:srgbClr val="EBDA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406908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554480" y="407822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A17"/>
                </a:solidFill>
              </a:rPr>
              <a:t>Bug Tracking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023360" y="4078224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25A"/>
                </a:solidFill>
              </a:rPr>
              <a:t>Document defects in Jira and link fixes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2960" y="4782312"/>
            <a:ext cx="10607040" cy="612648"/>
          </a:xfrm>
          <a:prstGeom prst="roundRect">
            <a:avLst>
              <a:gd name="adj" fmla="val 11940"/>
            </a:avLst>
          </a:prstGeom>
          <a:solidFill>
            <a:srgbClr val="FFF8F0"/>
          </a:solidFill>
          <a:ln w="12700">
            <a:solidFill>
              <a:srgbClr val="EBDA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49103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554480" y="491947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A17"/>
                </a:solidFill>
              </a:rPr>
              <a:t>Fix Verification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023360" y="4919472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25A"/>
                </a:solidFill>
              </a:rPr>
              <a:t>Re-test after commits and final build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280160" y="5806440"/>
            <a:ext cx="9601200" cy="502920"/>
          </a:xfrm>
          <a:prstGeom prst="roundRect">
            <a:avLst>
              <a:gd name="adj" fmla="val 14545"/>
            </a:avLst>
          </a:prstGeom>
          <a:solidFill>
            <a:srgbClr val="11100E"/>
          </a:solidFill>
          <a:ln w="12700">
            <a:solidFill>
              <a:srgbClr val="11100E"/>
            </a:solidFill>
            <a:prstDash val="solid"/>
          </a:ln>
          <a:effectLst>
            <a:outerShdw blurRad="25400" dist="508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554480" y="5961888"/>
            <a:ext cx="9052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Before delivery: ensure SRS, UML diagrams, Jira, GitHub, testing documents and working demo are aligned.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02920" y="6528816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25A"/>
                </a:solidFill>
              </a:rPr>
              <a:t>YallaMarket • Software Engineering Project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25A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Delivery Readiness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 project package for demo and submission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E9D8C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1732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ADBCB"/>
            </a:solidFill>
            <a:prstDash val="solid"/>
          </a:ln>
          <a:effectLst>
            <a:outerShdw blurRad="25400" dist="508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87552" y="1563624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563EB"/>
                </a:solidFill>
              </a:rPr>
              <a:t>SRS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60120" y="200253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6B625A"/>
                </a:solidFill>
              </a:rPr>
              <a:t>Requirements document v3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3063240" y="141732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ADBCB"/>
            </a:solidFill>
            <a:prstDash val="solid"/>
          </a:ln>
          <a:effectLst>
            <a:outerShdw blurRad="25400" dist="508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27832" y="1563624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</a:rPr>
              <a:t>UML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200400" y="200253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6B625A"/>
                </a:solidFill>
              </a:rPr>
              <a:t>Use case + diagrams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5303520" y="141732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ADBCB"/>
            </a:solidFill>
            <a:prstDash val="solid"/>
          </a:ln>
          <a:effectLst>
            <a:outerShdw blurRad="25400" dist="508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68112" y="1563624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A34A"/>
                </a:solidFill>
              </a:rPr>
              <a:t>Jira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440680" y="200253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6B625A"/>
                </a:solidFill>
              </a:rPr>
              <a:t>Agile tracking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7543800" y="141732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ADBCB"/>
            </a:solidFill>
            <a:prstDash val="solid"/>
          </a:ln>
          <a:effectLst>
            <a:outerShdw blurRad="25400" dist="508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08392" y="1563624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C3AED"/>
                </a:solidFill>
              </a:rPr>
              <a:t>Code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680960" y="200253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6B625A"/>
                </a:solidFill>
              </a:rPr>
              <a:t>Frontend + backend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9784080" y="141732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ADBCB"/>
            </a:solidFill>
            <a:prstDash val="solid"/>
          </a:ln>
          <a:effectLst>
            <a:outerShdw blurRad="25400" dist="508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948672" y="1563624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F4444"/>
                </a:solidFill>
              </a:rPr>
              <a:t>QA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921240" y="200253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6B625A"/>
                </a:solidFill>
              </a:rPr>
              <a:t>Test cases + bug log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914400" y="3246120"/>
            <a:ext cx="4754880" cy="2267712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F0E4D4"/>
            </a:solidFill>
            <a:prstDash val="solid"/>
          </a:ln>
          <a:effectLst>
            <a:outerShdw blurRad="25400" dist="508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234440" y="35661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1A17"/>
                </a:solidFill>
              </a:rPr>
              <a:t>Delivered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1234440" y="403250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4752" y="397764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1A17"/>
                </a:solidFill>
              </a:rPr>
              <a:t>Storefront flow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234440" y="4352544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44752" y="429768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1A17"/>
                </a:solidFill>
              </a:rPr>
              <a:t>Cart + checkout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234440" y="467258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44752" y="461772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1A17"/>
                </a:solidFill>
              </a:rPr>
              <a:t>Bilingual interface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234440" y="4992624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444752" y="493776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1A17"/>
                </a:solidFill>
              </a:rPr>
              <a:t>Auth/backend foundations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92240" y="3246120"/>
            <a:ext cx="4754880" cy="2267712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F0E4D4"/>
            </a:solidFill>
            <a:prstDash val="solid"/>
          </a:ln>
          <a:effectLst>
            <a:outerShdw blurRad="25400" dist="508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812280" y="35661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1A17"/>
                </a:solidFill>
              </a:rPr>
              <a:t>Next Steps</a:t>
            </a:r>
            <a:endParaRPr lang="en-US" sz="1900" dirty="0"/>
          </a:p>
        </p:txBody>
      </p:sp>
      <p:sp>
        <p:nvSpPr>
          <p:cNvPr id="32" name="Shape 30"/>
          <p:cNvSpPr/>
          <p:nvPr/>
        </p:nvSpPr>
        <p:spPr>
          <a:xfrm>
            <a:off x="6812280" y="403250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22592" y="397764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1A17"/>
                </a:solidFill>
              </a:rPr>
              <a:t>Admin dashboard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812280" y="4352544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22592" y="429768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1A17"/>
                </a:solidFill>
              </a:rPr>
              <a:t>Payment gateway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812280" y="467258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22592" y="461772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1A17"/>
                </a:solidFill>
              </a:rPr>
              <a:t>Deployment polish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812280" y="4992624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22592" y="493776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1A17"/>
                </a:solidFill>
              </a:rPr>
              <a:t>Expanded testing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22960" y="5705856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F1A17"/>
                </a:solidFill>
              </a:rPr>
              <a:t>Thank you</a:t>
            </a:r>
            <a:endParaRPr lang="en-US" sz="3400" dirty="0"/>
          </a:p>
        </p:txBody>
      </p:sp>
      <p:sp>
        <p:nvSpPr>
          <p:cNvPr id="41" name="Text 39"/>
          <p:cNvSpPr/>
          <p:nvPr/>
        </p:nvSpPr>
        <p:spPr>
          <a:xfrm>
            <a:off x="822960" y="6236208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625A"/>
                </a:solidFill>
              </a:rPr>
              <a:t>Questions?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02920" y="6528816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25A"/>
                </a:solidFill>
              </a:rPr>
              <a:t>YallaMarket • Software Engineering Project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25A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818</Words>
  <Application>Microsoft Office PowerPoint</Application>
  <PresentationFormat>Widescreen</PresentationFormat>
  <Paragraphs>211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Software Engineering Course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YallaMarket Software Engineering Project</dc:title>
  <dc:subject>Final project presentation</dc:subject>
  <dc:creator>YallaMarket Team</dc:creator>
  <cp:lastModifiedBy>baraa masri</cp:lastModifiedBy>
  <cp:revision>24</cp:revision>
  <dcterms:created xsi:type="dcterms:W3CDTF">2026-05-04T20:37:03Z</dcterms:created>
  <dcterms:modified xsi:type="dcterms:W3CDTF">2026-05-10T19:59:08Z</dcterms:modified>
</cp:coreProperties>
</file>