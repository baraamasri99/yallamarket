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256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2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164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project as a complete software engineering process, not only as a web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80467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YM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11100E"/>
          </a:solidFill>
          <a:ln w="12700">
            <a:solidFill>
              <a:srgbClr val="11100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64208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SOFTWARE ENGINEERING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20391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1A17"/>
                </a:solidFill>
              </a:rPr>
              <a:t>YallaMarket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B625A"/>
                </a:solidFill>
              </a:rPr>
              <a:t>Digital marketplace for game cards, subscriptions &amp; balances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33649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A"/>
                </a:solidFill>
              </a:rPr>
              <a:t>Final Presentation • Agile/Scrum • React + Express + SQLite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06440" y="685800"/>
            <a:ext cx="5394960" cy="4956048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10" name="Image 0" descr="/mnt/data/screencapture-localhost-5173-2026-04-15-15_39_25.png"/>
          <p:cNvPicPr>
            <a:picLocks noChangeAspect="1"/>
          </p:cNvPicPr>
          <p:nvPr/>
        </p:nvPicPr>
        <p:blipFill>
          <a:blip r:embed="rId3"/>
          <a:srcRect l="13000" t="5000" r="-23022" b="30000"/>
          <a:stretch/>
        </p:blipFill>
        <p:spPr>
          <a:xfrm>
            <a:off x="5989320" y="868680"/>
            <a:ext cx="5029200" cy="45994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989320" y="868680"/>
            <a:ext cx="5029200" cy="256032"/>
          </a:xfrm>
          <a:prstGeom prst="roundRect">
            <a:avLst>
              <a:gd name="adj" fmla="val 14286"/>
            </a:avLst>
          </a:prstGeom>
          <a:solidFill>
            <a:srgbClr val="11100E">
              <a:alpha val="95000"/>
            </a:srgbClr>
          </a:solidFill>
          <a:ln w="12700">
            <a:solidFill>
              <a:srgbClr val="11100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57790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25A"/>
                </a:solidFill>
              </a:rPr>
              <a:t>Bilingual storefront • cart • checkout • backend-ready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real shopping need to a structured software system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37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A17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3865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3317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Users need a simple way to browse and buy digital products online.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93522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880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The flow should be fast, bilingual and mobile-friendly.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483864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4290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The system must be documented like a real software project.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0325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9776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Team work must be visible through Jira, GitHub and iterations.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11100E"/>
          </a:solidFill>
          <a:ln w="12700">
            <a:solidFill>
              <a:srgbClr val="11100E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1737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Objective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2331720"/>
            <a:ext cx="44805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EFE4"/>
                </a:solidFill>
              </a:rPr>
              <a:t>Design, document and implement a working marketplace that demonstrates requirements engineering, UML modeling, agile planning, implementation and quality assurance.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629400" y="39776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93992" y="412394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66560" y="45628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Core customer pages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8823960" y="39776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88552" y="412394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61120" y="45628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Sprints tracked in Jira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Stakeholders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project delivers today and what it prepares for next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BDAC8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2763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69164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Guest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06040" y="16276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A17"/>
                </a:solidFill>
              </a:rPr>
              <a:t>Browse categories, products, product details, cart and checkout UI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58775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6517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Registered User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06040" y="258775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A17"/>
                </a:solidFill>
              </a:rPr>
              <a:t>Register, login and submit orders when backend flow is enabled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54787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61188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Admin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06040" y="35478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A17"/>
                </a:solidFill>
              </a:rPr>
              <a:t>Future catalog/order management and dashboard access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34340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50799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11100E"/>
          </a:solidFill>
          <a:ln w="12700">
            <a:solidFill>
              <a:srgbClr val="11100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457200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Instructor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06040" y="45079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1A17"/>
                </a:solidFill>
              </a:rPr>
              <a:t>Evaluates requirements, modeling, agile process, implementation and testing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1325880"/>
            <a:ext cx="48920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BDAC8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A17"/>
                </a:solidFill>
              </a:rPr>
              <a:t>Current Scope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84848" y="223113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1762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Bilingual storefront (AR/EN)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84848" y="2670048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6151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Category and product browsing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84848" y="31089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30540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Product details + related items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84848" y="354787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34930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Cart with localStorage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84848" y="39867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39319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Checkout UI + order summary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84848" y="442569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43708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Auth/backend foundations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and non-functional requirements guided the build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54864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A17"/>
                </a:solidFill>
              </a:rPr>
              <a:t>Functional Requirements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21488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Browse categories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00200" y="2441448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9928" y="250545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9352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29352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View products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00200" y="3227832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9928" y="329184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7216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00200" y="37216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Search/filter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00200" y="4014216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09928" y="407822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Medium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507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4507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Product details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600200" y="480060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09928" y="486460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01568" y="21488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87368" y="21488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Add to cart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087368" y="2441448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97096" y="250545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01568" y="29352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87368" y="29352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Checkout form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087368" y="3227832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97096" y="329184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01568" y="37216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FR-11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87368" y="37216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Language switch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087368" y="4014216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97096" y="407822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01568" y="4507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FR-13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87368" y="4507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A17"/>
                </a:solidFill>
              </a:rPr>
              <a:t>Register/Login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087368" y="480060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97096" y="486460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92240" y="1371600"/>
            <a:ext cx="51206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12280" y="1645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A17"/>
                </a:solidFill>
              </a:rPr>
              <a:t>Quality Attributes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6812280" y="22037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21488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Performance: pages load quickly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12280" y="267919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22592" y="26243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Usability: smooth shopping flow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12280" y="31546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22592" y="30998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Localization: Arabic RTL + English LTR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12280" y="3630168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22592" y="35753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Reliability: friendly errors and empty states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12280" y="410565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22592" y="40507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Maintainability: pages/components/services/context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812280" y="458114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22592" y="45262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Security: bcrypt + JWT foundations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User Journey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follows one clean customer flow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2606040"/>
            <a:ext cx="41148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977640" y="2606040"/>
            <a:ext cx="45720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52160" y="2606040"/>
            <a:ext cx="45720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26680" y="2606040"/>
            <a:ext cx="45720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601200" y="2606040"/>
            <a:ext cx="41148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2860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0D2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957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A17"/>
                </a:solidFill>
              </a:rPr>
              <a:t>Home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51760" y="22860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E9FBE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3957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A17"/>
                </a:solidFill>
              </a:rPr>
              <a:t>Category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26280" y="22860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0D2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3957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A17"/>
                </a:solidFill>
              </a:rPr>
              <a:t>Product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22860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E9FBE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3957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A17"/>
                </a:solidFill>
              </a:rPr>
              <a:t>Cart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75320" y="22860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0D2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3957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A17"/>
                </a:solidFill>
              </a:rPr>
              <a:t>Checkout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104120" y="22860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E9FBE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3957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A17"/>
                </a:solidFill>
              </a:rPr>
              <a:t>Order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0120" y="3749040"/>
            <a:ext cx="10241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34440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A17"/>
                </a:solidFill>
              </a:rPr>
              <a:t>Demonstrated Behaviors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34440" y="452628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44168" y="459028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Routing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16352" y="452628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459028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Search/filter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98264" y="452628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07992" y="459028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Related products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80176" y="452628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459028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Cart persistence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562088" y="452628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71816" y="459028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Checkout validation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144000" y="452628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53728" y="459028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Auth-ready flow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design: frontend, backend and persistence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2743200"/>
            <a:ext cx="128016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577840" y="2743200"/>
            <a:ext cx="123444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2743200"/>
            <a:ext cx="109728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17920" y="3886200"/>
            <a:ext cx="594360" cy="0"/>
          </a:xfrm>
          <a:prstGeom prst="line">
            <a:avLst/>
          </a:prstGeom>
          <a:noFill/>
          <a:ln w="19050">
            <a:solidFill>
              <a:srgbClr val="6B625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23317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AF1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4144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A17"/>
                </a:solidFill>
              </a:rPr>
              <a:t>Users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1A17"/>
                </a:solidFill>
              </a:rPr>
              <a:t>Browser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148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9FBE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2585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A17"/>
                </a:solidFill>
              </a:rPr>
              <a:t>React Frontend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1A17"/>
                </a:solidFill>
              </a:rPr>
              <a:t>Vite + Tailwind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21488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F0D2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2258568"/>
            <a:ext cx="1645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A17"/>
                </a:solidFill>
              </a:rPr>
              <a:t>Express 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1A17"/>
                </a:solidFill>
              </a:rPr>
              <a:t>Routes + Controllers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92640" y="21488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5F3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2258568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A17"/>
                </a:solidFill>
              </a:rPr>
              <a:t>SQLite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1A17"/>
                </a:solidFill>
              </a:rPr>
              <a:t>Database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36576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780">
            <a:solidFill>
              <a:srgbClr val="D9C2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7673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A17"/>
                </a:solidFill>
              </a:rPr>
              <a:t>localStorage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1A17"/>
                </a:solidFill>
              </a:rPr>
              <a:t>Cart persistence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47548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504748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A17"/>
                </a:solidFill>
              </a:rPr>
              <a:t>Key principle: services and contexts isolate UI from backend details, making future changes safer.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Modeling &amp; ERD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entities were designed for relational persistence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73152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6" name="Image 0" descr="/mnt/data/a_diagram_of_an_entity_relationship_diagram_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62100"/>
            <a:ext cx="6903720" cy="4602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234440"/>
            <a:ext cx="3246120" cy="52120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49640" y="16276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A17"/>
                </a:solidFill>
              </a:rPr>
              <a:t>Core Tables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549640" y="22037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59952" y="21488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Users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49640" y="270662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59952" y="2651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Categories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49640" y="320954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59952" y="31546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Products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549640" y="371246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59952" y="36576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Orders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549640" y="4215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59952" y="41605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Order Items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549640" y="4846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Design goal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549640" y="5166360"/>
            <a:ext cx="2423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625A"/>
                </a:solidFill>
              </a:rPr>
              <a:t>Keep catalog and order data normalized so admin and analytics features can be added later.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Demo: Catalog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and category pages demonstrate the main browsing flow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52120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6" name="Image 0" descr="/mnt/data/screencapture-localhost-5173-2026-04-15-15_39_25.png"/>
          <p:cNvPicPr>
            <a:picLocks noChangeAspect="1"/>
          </p:cNvPicPr>
          <p:nvPr/>
        </p:nvPicPr>
        <p:blipFill>
          <a:blip r:embed="rId3"/>
          <a:srcRect l="12000" r="-11582" b="40000"/>
          <a:stretch/>
        </p:blipFill>
        <p:spPr>
          <a:xfrm>
            <a:off x="822960" y="1481328"/>
            <a:ext cx="475488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92531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Homepage: brand, search, highlights and categories</a:t>
            </a:r>
            <a:endParaRPr lang="en-US" sz="860" dirty="0"/>
          </a:p>
        </p:txBody>
      </p:sp>
      <p:sp>
        <p:nvSpPr>
          <p:cNvPr id="8" name="Shape 5"/>
          <p:cNvSpPr/>
          <p:nvPr/>
        </p:nvSpPr>
        <p:spPr>
          <a:xfrm>
            <a:off x="6263640" y="123444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9" name="Image 1" descr="/mnt/data/image(152).png"/>
          <p:cNvPicPr>
            <a:picLocks noChangeAspect="1"/>
          </p:cNvPicPr>
          <p:nvPr/>
        </p:nvPicPr>
        <p:blipFill>
          <a:blip r:embed="rId4"/>
          <a:srcRect l="4000" t="3000" r="46327" b="25000"/>
          <a:stretch/>
        </p:blipFill>
        <p:spPr>
          <a:xfrm>
            <a:off x="6492240" y="1481328"/>
            <a:ext cx="4892040" cy="4434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592531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Category: filtered product grid and product cards</a:t>
            </a:r>
            <a:endParaRPr lang="en-US" sz="860" dirty="0"/>
          </a:p>
        </p:txBody>
      </p:sp>
      <p:sp>
        <p:nvSpPr>
          <p:cNvPr id="11" name="Text 7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Demo: Cart &amp; Checkout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shopping flow continues into cart management and checkout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6" name="Image 0" descr="/mnt/data/image(153).png"/>
          <p:cNvPicPr>
            <a:picLocks noChangeAspect="1"/>
          </p:cNvPicPr>
          <p:nvPr/>
        </p:nvPicPr>
        <p:blipFill>
          <a:blip r:embed="rId3"/>
          <a:srcRect l="5000" r="64178" b="4000"/>
          <a:stretch/>
        </p:blipFill>
        <p:spPr>
          <a:xfrm>
            <a:off x="822960" y="1481328"/>
            <a:ext cx="498348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9253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Cart: quantity controls, deletion and order summary</a:t>
            </a:r>
            <a:endParaRPr lang="en-US" sz="860" dirty="0"/>
          </a:p>
        </p:txBody>
      </p:sp>
      <p:sp>
        <p:nvSpPr>
          <p:cNvPr id="8" name="Shape 5"/>
          <p:cNvSpPr/>
          <p:nvPr/>
        </p:nvSpPr>
        <p:spPr>
          <a:xfrm>
            <a:off x="6309360" y="1234440"/>
            <a:ext cx="53035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9" name="Image 1" descr="/mnt/data/image(154).png"/>
          <p:cNvPicPr>
            <a:picLocks noChangeAspect="1"/>
          </p:cNvPicPr>
          <p:nvPr/>
        </p:nvPicPr>
        <p:blipFill>
          <a:blip r:embed="rId4"/>
          <a:srcRect l="10000" t="4000" r="51785" b="24000"/>
          <a:stretch/>
        </p:blipFill>
        <p:spPr>
          <a:xfrm>
            <a:off x="6537960" y="1481328"/>
            <a:ext cx="4846320" cy="4434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0" y="59253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Checkout: customer info, address, payment method and totals</a:t>
            </a:r>
            <a:endParaRPr lang="en-US" sz="860" dirty="0"/>
          </a:p>
        </p:txBody>
      </p:sp>
      <p:sp>
        <p:nvSpPr>
          <p:cNvPr id="11" name="Text 7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Execution with Jira &amp; GitHub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was tracked as stories, tasks and refinement fixes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61872"/>
            <a:ext cx="2880360" cy="49834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6" name="Image 0" descr="/mnt/data/image(155).png"/>
          <p:cNvPicPr>
            <a:picLocks noChangeAspect="1"/>
          </p:cNvPicPr>
          <p:nvPr/>
        </p:nvPicPr>
        <p:blipFill>
          <a:blip r:embed="rId3"/>
          <a:srcRect r="-8499"/>
          <a:stretch/>
        </p:blipFill>
        <p:spPr>
          <a:xfrm>
            <a:off x="960120" y="1508760"/>
            <a:ext cx="2331720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77640" y="1261872"/>
            <a:ext cx="740664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34340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A17"/>
                </a:solidFill>
              </a:rPr>
              <a:t>Sprint Plan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70832" y="205740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0560" y="2121408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Sprint 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577840" y="20848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F1A17"/>
                </a:solidFill>
              </a:rPr>
              <a:t>Storefront foundation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7909560" y="20848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</a:rPr>
              <a:t>Home, Category, ProductCard, Cart UI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70832" y="292608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80560" y="2990088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Sprint 2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577840" y="29535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F1A17"/>
                </a:solidFill>
              </a:rPr>
              <a:t>UX &amp; state refinement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7909560" y="29535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</a:rPr>
              <a:t>CartContext, localStorage, error/empty states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70832" y="379476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80560" y="3858768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Sprint 3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577840" y="3822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F1A17"/>
                </a:solidFill>
              </a:rPr>
              <a:t>Backend foundations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7909560" y="382219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</a:rPr>
              <a:t>Express, SQLite, auth endpoints, orders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70832" y="466344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80560" y="4727448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Sprint 4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577840" y="4690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F1A17"/>
                </a:solidFill>
              </a:rPr>
              <a:t>Final polish</a:t>
            </a:r>
            <a:endParaRPr lang="en-US" sz="1220" dirty="0"/>
          </a:p>
        </p:txBody>
      </p:sp>
      <p:sp>
        <p:nvSpPr>
          <p:cNvPr id="24" name="Text 21"/>
          <p:cNvSpPr/>
          <p:nvPr/>
        </p:nvSpPr>
        <p:spPr>
          <a:xfrm>
            <a:off x="7909560" y="469087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</a:rPr>
              <a:t>Testing, bug fixes, docs and demo prep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343400" y="5669280"/>
            <a:ext cx="676656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43400" y="5888736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25A"/>
                </a:solidFill>
              </a:rPr>
              <a:t>Evidence: Jira backlog, sprint statuses, GitHub branches and commit history.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Quality Assurance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focuses on a complete engineering process, not only running code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607040" cy="612648"/>
          </a:xfrm>
          <a:prstGeom prst="roundRect">
            <a:avLst>
              <a:gd name="adj" fmla="val 11940"/>
            </a:avLst>
          </a:prstGeom>
          <a:solidFill>
            <a:srgbClr val="FFF8F0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4533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554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A17"/>
                </a:solidFill>
              </a:rPr>
              <a:t>Test Plan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15544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A"/>
                </a:solidFill>
              </a:rPr>
              <a:t>Define scope, environment and roles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258568"/>
            <a:ext cx="1060704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38658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3957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A17"/>
                </a:solidFill>
              </a:rPr>
              <a:t>Test Cases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239572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A"/>
                </a:solidFill>
              </a:rPr>
              <a:t>Login, search, cart, checkout, invalid routes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099816"/>
            <a:ext cx="10607040" cy="612648"/>
          </a:xfrm>
          <a:prstGeom prst="roundRect">
            <a:avLst>
              <a:gd name="adj" fmla="val 11940"/>
            </a:avLst>
          </a:prstGeom>
          <a:solidFill>
            <a:srgbClr val="FFF8F0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2278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2369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A17"/>
                </a:solidFill>
              </a:rPr>
              <a:t>Test Results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3236976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A"/>
                </a:solidFill>
              </a:rPr>
              <a:t>Record pass/fail and actual behavior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941064"/>
            <a:ext cx="1060704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0690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40782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A17"/>
                </a:solidFill>
              </a:rPr>
              <a:t>Bug Tracking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4078224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A"/>
                </a:solidFill>
              </a:rPr>
              <a:t>Document defects in Jira and link 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782312"/>
            <a:ext cx="10607040" cy="612648"/>
          </a:xfrm>
          <a:prstGeom prst="roundRect">
            <a:avLst>
              <a:gd name="adj" fmla="val 11940"/>
            </a:avLst>
          </a:prstGeom>
          <a:solidFill>
            <a:srgbClr val="FFF8F0"/>
          </a:solidFill>
          <a:ln w="12700">
            <a:solidFill>
              <a:srgbClr val="EBDA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9103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4919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A17"/>
                </a:solidFill>
              </a:rPr>
              <a:t>Fix Verification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0" y="491947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A"/>
                </a:solidFill>
              </a:rPr>
              <a:t>Re-test after commits and final build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80160" y="5806440"/>
            <a:ext cx="9601200" cy="502920"/>
          </a:xfrm>
          <a:prstGeom prst="roundRect">
            <a:avLst>
              <a:gd name="adj" fmla="val 14545"/>
            </a:avLst>
          </a:prstGeom>
          <a:solidFill>
            <a:srgbClr val="11100E"/>
          </a:solidFill>
          <a:ln w="12700">
            <a:solidFill>
              <a:srgbClr val="11100E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554480" y="596188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Before delivery: ensure SRS, UML diagrams, Jira, GitHub, testing documents and working demo are aligned.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Delivery Readiness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project package for demo and submission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9D8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56362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SRS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0025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Requirements document v3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306324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27832" y="156362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UML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0" y="20025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Use case + diagrams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30352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68112" y="156362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Jira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40680" y="20025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Agile tracking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54380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08392" y="156362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</a:rPr>
              <a:t>Code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80960" y="20025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Frontend + backend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78408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DBCB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948672" y="156362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</a:rPr>
              <a:t>QA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921240" y="20025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25A"/>
                </a:solidFill>
              </a:rPr>
              <a:t>Test cases + bug log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914400" y="3246120"/>
            <a:ext cx="4754880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34440" y="3566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A17"/>
                </a:solidFill>
              </a:rPr>
              <a:t>Delivered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234440" y="40325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4752" y="39776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Storefront flow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234440" y="435254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44752" y="42976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Cart + checkout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34440" y="46725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44752" y="46177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Bilingual interface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234440" y="499262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44752" y="49377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Auth/backend foundations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3246120"/>
            <a:ext cx="4754880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0E4D4"/>
            </a:solidFill>
            <a:prstDash val="solid"/>
          </a:ln>
          <a:effectLst>
            <a:outerShdw blurRad="25400" dist="508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12280" y="3566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A17"/>
                </a:solidFill>
              </a:rPr>
              <a:t>Next Steps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6812280" y="40325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39776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Admin dashboard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12280" y="435254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22592" y="42976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Payment gateway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12280" y="46725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22592" y="46177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Deployment polish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12280" y="499262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22592" y="49377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A17"/>
                </a:solidFill>
              </a:rPr>
              <a:t>Expanded testing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570585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1A17"/>
                </a:solidFill>
              </a:rPr>
              <a:t>Thank you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822960" y="6236208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25A"/>
                </a:solidFill>
              </a:rPr>
              <a:t>Questions?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" y="652881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25A"/>
                </a:solidFill>
              </a:rPr>
              <a:t>YallaMarket • Software Engineering Project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818</Words>
  <Application>Microsoft Office PowerPoint</Application>
  <PresentationFormat>Widescreen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Software Engineering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YallaMarket Software Engineering Project</dc:title>
  <dc:subject>Final project presentation</dc:subject>
  <dc:creator>YallaMarket Team</dc:creator>
  <cp:lastModifiedBy>baraa masri</cp:lastModifiedBy>
  <cp:revision>3</cp:revision>
  <dcterms:created xsi:type="dcterms:W3CDTF">2026-05-04T20:37:03Z</dcterms:created>
  <dcterms:modified xsi:type="dcterms:W3CDTF">2026-05-08T14:56:54Z</dcterms:modified>
</cp:coreProperties>
</file>